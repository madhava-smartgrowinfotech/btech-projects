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media/image-1-1.jpg" ContentType="image/jpg"/>
  <Override PartName="/ppt/media/image-10-1.jpg" ContentType="image/jpg"/>
  <Override PartName="/ppt/media/image-11-1.jpg" ContentType="image/jpg"/>
  <Override PartName="/ppt/media/image-12-1.jpg" ContentType="image/jpg"/>
  <Override PartName="/ppt/media/image-13-1.jpg" ContentType="image/jpg"/>
  <Override PartName="/ppt/media/image-14-1.jpg" ContentType="image/jpg"/>
  <Override PartName="/ppt/media/image-15-1.jpg" ContentType="image/jpg"/>
  <Override PartName="/ppt/media/image-16-1.jpg" ContentType="image/jpg"/>
  <Override PartName="/ppt/media/image-17-1.jpg" ContentType="image/jpg"/>
  <Override PartName="/ppt/media/image-18-1.jpg" ContentType="image/jpg"/>
  <Override PartName="/ppt/media/image-19-1.jpg" ContentType="image/jpg"/>
  <Override PartName="/ppt/media/image-2-1.jpg" ContentType="image/jpg"/>
  <Override PartName="/ppt/media/image-20-1.jpg" ContentType="image/jpg"/>
  <Override PartName="/ppt/media/image-21-1.jpg" ContentType="image/jpg"/>
  <Override PartName="/ppt/media/image-22-1.jpg" ContentType="image/jpg"/>
  <Override PartName="/ppt/media/image-23-1.jpg" ContentType="image/jpg"/>
  <Override PartName="/ppt/media/image-24-1.jpg" ContentType="image/jpg"/>
  <Override PartName="/ppt/media/image-25-1.jpg" ContentType="image/jpg"/>
  <Override PartName="/ppt/media/image-26-1.jpg" ContentType="image/jpg"/>
  <Override PartName="/ppt/media/image-27-1.jpg" ContentType="image/jpg"/>
  <Override PartName="/ppt/media/image-28-1.jpg" ContentType="image/jpg"/>
  <Override PartName="/ppt/media/image-3-1.jpg" ContentType="image/jpg"/>
  <Override PartName="/ppt/media/image-4-1.jpg" ContentType="image/jpg"/>
  <Override PartName="/ppt/media/image-5-1.jpg" ContentType="image/jpg"/>
  <Override PartName="/ppt/media/image-6-1.jpg" ContentType="image/jpg"/>
  <Override PartName="/ppt/media/image-7-1.jpg" ContentType="image/jpg"/>
  <Override PartName="/ppt/media/image-8-1.jpg" ContentType="image/jpg"/>
  <Override PartName="/ppt/media/image-9-1.jpg" ContentType="image/jpg"/>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notesMasterIdLst>
    <p:notesMasterId r:id="rId3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notesMaster" Target="notesMasters/notesMaster1.xml"/><Relationship Id="rId31" Type="http://schemas.openxmlformats.org/officeDocument/2006/relationships/presProps" Target="presProps.xml"/><Relationship Id="rId32" Type="http://schemas.openxmlformats.org/officeDocument/2006/relationships/viewProps" Target="viewProps.xml"/><Relationship Id="rId33" Type="http://schemas.openxmlformats.org/officeDocument/2006/relationships/theme" Target="theme/theme1.xml"/><Relationship Id="rId34"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Accuracy</c:v>
                </c:pt>
              </c:strCache>
            </c:strRef>
          </c:tx>
          <c:spPr>
            <a:solidFill>
              <a:srgbClr val="2E75B6"/>
            </a:solidFill>
          </c:spPr>
          <c:cat>
            <c:strRef>
              <c:f>Sheet1!$A$2:$A$7</c:f>
              <c:strCache>
                <c:ptCount val="6"/>
                <c:pt idx="0">
                  <c:v>0.0-0.4
(n=7)</c:v>
                </c:pt>
                <c:pt idx="1">
                  <c:v>0.4-0.5
(n=462)</c:v>
                </c:pt>
                <c:pt idx="2">
                  <c:v>0.5-0.6
(n=1070)</c:v>
                </c:pt>
                <c:pt idx="3">
                  <c:v>0.6-0.7
(n=643)</c:v>
                </c:pt>
                <c:pt idx="4">
                  <c:v>0.7-0.8
(n=109)</c:v>
                </c:pt>
                <c:pt idx="5">
                  <c:v>0.8-1.0
(n=5)</c:v>
                </c:pt>
              </c:strCache>
            </c:strRef>
          </c:cat>
          <c:val>
            <c:numRef>
              <c:f>Sheet1!$B$2:$B$7</c:f>
              <c:numCache>
                <c:formatCode>General</c:formatCode>
                <c:ptCount val="6"/>
                <c:pt idx="0">
                  <c:v>0.2857142857142857</c:v>
                </c:pt>
                <c:pt idx="1">
                  <c:v>0.36796536796536794</c:v>
                </c:pt>
                <c:pt idx="2">
                  <c:v>0.4074766355140187</c:v>
                </c:pt>
                <c:pt idx="3">
                  <c:v>0.6811819595645412</c:v>
                </c:pt>
                <c:pt idx="4">
                  <c:v>0.7889908256880734</c:v>
                </c:pt>
                <c:pt idx="5">
                  <c:v>1.0</c:v>
                </c:pt>
              </c:numCache>
            </c:numRef>
          </c:val>
        </c:ser>
        <c:dLbls>
          <c:numFmt formatCode="0%" sourceLinked="0"/>
          <c:txPr>
            <a:bodyPr/>
            <a:lstStyle/>
            <a:p>
              <a:pPr>
                <a:defRPr sz="800"/>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D5DCE6"/>
            </a:solidFill>
          </a:ln>
        </c:spPr>
        <c:crossAx val="-2113994440"/>
        <c:crosses val="autoZero"/>
        <c:auto val="1"/>
        <c:lblAlgn val="ctr"/>
        <c:lblOffset val="100"/>
        <c:noMultiLvlLbl val="0"/>
      </c:catAx>
      <c:valAx>
        <c:axId val="-2113994440"/>
        <c:scaling>
          <c:max val="1.1"/>
          <c:min val="0.0"/>
        </c:scaling>
        <c:delete val="0"/>
        <c:axPos val="l"/>
        <c:majorGridlines>
          <c:spPr>
            <a:ln>
              <a:solidFill>
                <a:srgbClr val="D5DCE6"/>
              </a:solidFill>
            </a:ln>
          </c:spPr>
        </c:majorGridlines>
        <c:numFmt formatCode="0%" sourceLinked="0"/>
        <c:majorTickMark val="out"/>
        <c:minorTickMark val="none"/>
        <c:tickLblPos val="nextTo"/>
        <c:spPr>
          <a:ln>
            <a:noFill/>
          </a:ln>
        </c:spPr>
        <c:crossAx val="-2068027336"/>
        <c:crosses val="autoZero"/>
      </c:valAx>
    </c:plotArea>
    <c:dispBlanksAs val="gap"/>
  </c:chart>
  <c:txPr>
    <a:bodyPr/>
    <a:lstStyle/>
    <a:p>
      <a:pPr>
        <a:defRPr sz="9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Introduce the team and the project: TruthGlow, a fake news detector built on PCA, the Firefly algorithm and a multi-class SVM, with a complete web application.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agenda follows the report: problem, design, method, results, comparison, screens, conclusion.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Read the pipeline bullet, then give the headline number with its protocol, then say plainly that the optimiser's gain is not demonstrated.</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An Arabic, binary, transformer-based detector. We adopt its use of class weighting and its habit of reporting several metrics against baselines, not its model or data.</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Representative work with figures taken from the papers themselves. Four further 2024-2025 papers named in the project survey could not be verified and are listed in the report with that caveat.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Five gaps. We build for the first, second and fifth, and test the third and fourth honestly.</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statement has three parts: classify into three verdicts, stay light, and report the evidence honestly.</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six objectives of the proposal. The conclusion reports which were met: stemming (objective 2) was not implemented and the accuracy/cost advantage in objective 4 and 6 was not demonstrated.</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pipeline as a row of boxes, then four properties that matter.</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Three tiers plus storage; the domain library is shared by the web app, the CLI and the original Streamlit app.</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method and, as important, the fair comparisons we added around it.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Dataset, feature pipeline and model. The funnel shows 4,025 features reduced to 300 PCA components, then to about 150 selected components.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core algorithm. Note the last bullet: the verdict and the confidence come from two different mechanisms, which matters on slide 19.</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Sequence of one detection request and the use cases of the reader and the model owner. There is no login.</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Honest point: the product stores files, not rows.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Highlights: reuse of the library, input validation, background retraining and explained results.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Headline: macro-F1 0.43 and accuracy 0.49 for the proposed pipeline. Its optimiser gives no clear gain over its own simpler variants, and linear TF-IDF models do better.</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Rows are the true class. FAKE is recognised best because it is the majority class; PARTIALLY TRUE is recognised least, and confused with both neighbours.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Three analyses in place of a threshold sweep. The mismatch between verdict and probability is a defect found by this evaluation, not hidden.</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Inference is cheap; training with the Firefly search is the costly step. The tests cover the library and API, not the browser.</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State plainly that the datasets and tasks differ; no superiority or inferiority claim is possible from these numbers.</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Real screenshots from the app running the LIAR2 model. The right-hand screen illustrates the verdict/probability disagreement.</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analytics screen reads its numbers live from the loaded model and shows the gain from optimisation honestly (negative on that seed).</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Retraining on a user CSV from the browser. The small sample explains the lower scores.</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Be explicit: the system works, the accuracy/cost advantage of the optimiser was not demonstrated on real data.</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Concrete next steps, the first three follow directly from the findings.</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Selected references; the complete numbered list is in the report.</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Invite questions.</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image" Target="../media/image1.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1.xml"/><Relationship Id="rId3" Type="http://schemas.openxmlformats.org/officeDocument/2006/relationships/notesSlide" Target="../notesSlides/notesSlide12.xml"/><Relationship Id="rId4" Type="http://schemas.openxmlformats.org/officeDocument/2006/relationships/image" Target="../media/image2.png"/><Relationship Id="rId5"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image" Target="../media/image4.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image" Target="../media/image5.png"/><Relationship Id="rId3" Type="http://schemas.openxmlformats.org/officeDocument/2006/relationships/slideLayout" Target="../slideLayouts/slideLayout1.xml"/><Relationship Id="rId4" Type="http://schemas.openxmlformats.org/officeDocument/2006/relationships/notesSlide" Target="../notesSlides/notesSlide14.xml"/><Relationship Id="rId5" Type="http://schemas.openxmlformats.org/officeDocument/2006/relationships/image" Target="../media/image6.png"/></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image" Target="../media/image7.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g"/><Relationship Id="rId2" Type="http://schemas.openxmlformats.org/officeDocument/2006/relationships/slideLayout" Target="../slideLayouts/slideLayout1.xml"/><Relationship Id="rId3" Type="http://schemas.openxmlformats.org/officeDocument/2006/relationships/notesSlide" Target="../notesSlides/notesSlide17.xml"/><Relationship Id="rId4" Type="http://schemas.openxmlformats.org/officeDocument/2006/relationships/image" Target="../media/image8.png"/></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image" Target="../media/image10.png"/><Relationship Id="rId3" Type="http://schemas.openxmlformats.org/officeDocument/2006/relationships/image" Target="../media/image9.png"/><Relationship Id="rId4" Type="http://schemas.openxmlformats.org/officeDocument/2006/relationships/slideLayout" Target="../slideLayouts/slideLayout1.xml"/><Relationship Id="rId5"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chart" Target="../charts/chart1.xml"/><Relationship Id="rId3" Type="http://schemas.openxmlformats.org/officeDocument/2006/relationships/image" Target="../media/image11.png"/><Relationship Id="rId4" Type="http://schemas.openxmlformats.org/officeDocument/2006/relationships/slideLayout" Target="../slideLayouts/slideLayout1.xml"/><Relationship Id="rId5" Type="http://schemas.openxmlformats.org/officeDocument/2006/relationships/notesSlide" Target="../notesSlides/notesSlide19.xml"/><Relationship Id="rId6" Type="http://schemas.openxmlformats.org/officeDocument/2006/relationships/image" Target="../media/image12.png"/></Relationships>
</file>

<file path=ppt/slides/_rels/slide20.xml.rels><?xml version='1.0' encoding='UTF-8' standalone='yes'?>
<Relationships xmlns="http://schemas.openxmlformats.org/package/2006/relationships"><Relationship Id="rId1" Type="http://schemas.openxmlformats.org/officeDocument/2006/relationships/image" Target="../media/image-20-1.jpg"/><Relationship Id="rId2" Type="http://schemas.openxmlformats.org/officeDocument/2006/relationships/slideLayout" Target="../slideLayouts/slideLayout1.xml"/><Relationship Id="rId3" Type="http://schemas.openxmlformats.org/officeDocument/2006/relationships/notesSlide" Target="../notesSlides/notesSlide20.xml"/><Relationship Id="rId4" Type="http://schemas.openxmlformats.org/officeDocument/2006/relationships/image" Target="../media/image13.png"/></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image" Target="../media/image15.png"/><Relationship Id="rId3" Type="http://schemas.openxmlformats.org/officeDocument/2006/relationships/image" Target="../media/image14.png"/><Relationship Id="rId4" Type="http://schemas.openxmlformats.org/officeDocument/2006/relationships/slideLayout" Target="../slideLayouts/slideLayout1.xml"/><Relationship Id="rId5"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jpg"/><Relationship Id="rId2" Type="http://schemas.openxmlformats.org/officeDocument/2006/relationships/image" Target="../media/image17.png"/><Relationship Id="rId3" Type="http://schemas.openxmlformats.org/officeDocument/2006/relationships/image" Target="../media/image16.png"/><Relationship Id="rId4" Type="http://schemas.openxmlformats.org/officeDocument/2006/relationships/slideLayout" Target="../slideLayouts/slideLayout1.xml"/><Relationship Id="rId5"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image" Target="../media/image19.png"/><Relationship Id="rId3" Type="http://schemas.openxmlformats.org/officeDocument/2006/relationships/image" Target="../media/image18.png"/><Relationship Id="rId4" Type="http://schemas.openxmlformats.org/officeDocument/2006/relationships/slideLayout" Target="../slideLayouts/slideLayout1.xml"/><Relationship Id="rId5"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jp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548640" y="1373177"/>
            <a:ext cx="11064240" cy="1005840"/>
          </a:xfrm>
          <a:prstGeom prst="rect">
            <a:avLst/>
          </a:prstGeom>
          <a:noFill/>
          <a:ln/>
        </p:spPr>
        <p:txBody>
          <a:bodyPr wrap="square" rtlCol="0" anchor="ctr"/>
          <a:lstStyle/>
          <a:p>
            <a:pPr algn="ctr" indent="0" marL="0">
              <a:buNone/>
            </a:pPr>
            <a:r>
              <a:rPr lang="en-US" sz="2800" b="1" dirty="0">
                <a:solidFill>
                  <a:srgbClr val="1F3864"/>
                </a:solidFill>
                <a:latin typeface="Calibri" pitchFamily="34" charset="0"/>
                <a:ea typeface="Calibri" pitchFamily="34" charset="-122"/>
                <a:cs typeface="Calibri" pitchFamily="34" charset="-120"/>
              </a:rPr>
              <a:t>Fake News Detection System Using Feature Based Optimised MSVM Classification</a:t>
            </a:r>
            <a:endParaRPr lang="en-US" sz="3200" dirty="0"/>
          </a:p>
        </p:txBody>
      </p:sp>
      <p:sp>
        <p:nvSpPr>
          <p:cNvPr id="5" name="Text 2"/>
          <p:cNvSpPr/>
          <p:nvPr/>
        </p:nvSpPr>
        <p:spPr>
          <a:xfrm>
            <a:off x="548640" y="2379017"/>
            <a:ext cx="11064240" cy="457200"/>
          </a:xfrm>
          <a:prstGeom prst="rect">
            <a:avLst/>
          </a:prstGeom>
          <a:noFill/>
          <a:ln/>
        </p:spPr>
        <p:txBody>
          <a:bodyPr wrap="square" rtlCol="0" anchor="ctr"/>
          <a:lstStyle/>
          <a:p>
            <a:pPr algn="ctr" indent="0" marL="0">
              <a:buNone/>
            </a:pPr>
            <a:r>
              <a:rPr lang="en-US" sz="2000" dirty="0">
                <a:solidFill>
                  <a:srgbClr val="2E75B6"/>
                </a:solidFill>
                <a:latin typeface="Calibri" pitchFamily="34" charset="0"/>
                <a:ea typeface="Calibri" pitchFamily="34" charset="-122"/>
                <a:cs typeface="Calibri" pitchFamily="34" charset="-120"/>
              </a:rPr>
              <a:t>Final Review  ·  TruthGlow</a:t>
            </a:r>
            <a:endParaRPr lang="en-US" sz="2000" dirty="0"/>
          </a:p>
        </p:txBody>
      </p:sp>
      <p:sp>
        <p:nvSpPr>
          <p:cNvPr id="6" name="Text 3"/>
          <p:cNvSpPr/>
          <p:nvPr/>
        </p:nvSpPr>
        <p:spPr>
          <a:xfrm>
            <a:off x="731520" y="3110537"/>
            <a:ext cx="5486400" cy="365760"/>
          </a:xfrm>
          <a:prstGeom prst="rect">
            <a:avLst/>
          </a:prstGeom>
          <a:noFill/>
          <a:ln/>
        </p:spPr>
        <p:txBody>
          <a:bodyPr wrap="square" rtlCol="0" anchor="ctr"/>
          <a:lstStyle/>
          <a:p>
            <a:pPr indent="0" marL="0">
              <a:buNone/>
            </a:pPr>
            <a:r>
              <a:rPr lang="en-US" sz="1800" b="1" dirty="0">
                <a:solidFill>
                  <a:srgbClr val="1F3864"/>
                </a:solidFill>
                <a:latin typeface="Calibri" pitchFamily="34" charset="0"/>
                <a:ea typeface="Calibri" pitchFamily="34" charset="-122"/>
                <a:cs typeface="Calibri" pitchFamily="34" charset="-120"/>
              </a:rPr>
              <a:t>Team Details : Batch C6</a:t>
            </a:r>
            <a:endParaRPr lang="en-US" sz="1800" dirty="0"/>
          </a:p>
        </p:txBody>
      </p:sp>
      <p:sp>
        <p:nvSpPr>
          <p:cNvPr id="7" name="Text 4"/>
          <p:cNvSpPr/>
          <p:nvPr/>
        </p:nvSpPr>
        <p:spPr>
          <a:xfrm>
            <a:off x="731520" y="3522017"/>
            <a:ext cx="5486400" cy="1645920"/>
          </a:xfrm>
          <a:prstGeom prst="rect">
            <a:avLst/>
          </a:prstGeom>
          <a:noFill/>
          <a:ln/>
        </p:spPr>
        <p:txBody>
          <a:bodyPr wrap="square" rtlCol="0" anchor="t"/>
          <a:lstStyle/>
          <a:p>
            <a:pPr indent="0" marL="0">
              <a:buNone/>
            </a:pPr>
            <a:r>
              <a:rPr lang="en-US" sz="1600" dirty="0">
                <a:solidFill>
                  <a:srgbClr val="222222"/>
                </a:solidFill>
                <a:latin typeface="Calibri" pitchFamily="34" charset="0"/>
                <a:ea typeface="Calibri" pitchFamily="34" charset="-122"/>
                <a:cs typeface="Calibri" pitchFamily="34" charset="-120"/>
              </a:rPr>
              <a:t>23K91A05H1   Neela Mojes</a:t>
            </a:r>
            <a:endParaRPr lang="en-US" sz="1600" dirty="0"/>
          </a:p>
          <a:p>
            <a:pPr indent="0" marL="0">
              <a:buNone/>
            </a:pPr>
            <a:r>
              <a:rPr lang="en-US" sz="1600" dirty="0">
                <a:solidFill>
                  <a:srgbClr val="222222"/>
                </a:solidFill>
                <a:latin typeface="Calibri" pitchFamily="34" charset="0"/>
                <a:ea typeface="Calibri" pitchFamily="34" charset="-122"/>
                <a:cs typeface="Calibri" pitchFamily="34" charset="-120"/>
              </a:rPr>
              <a:t>23K91A05H4   Noor Saniya</a:t>
            </a:r>
            <a:endParaRPr lang="en-US" sz="1600" dirty="0"/>
          </a:p>
          <a:p>
            <a:pPr indent="0" marL="0">
              <a:buNone/>
            </a:pPr>
            <a:r>
              <a:rPr lang="en-US" sz="1600" dirty="0">
                <a:solidFill>
                  <a:srgbClr val="222222"/>
                </a:solidFill>
                <a:latin typeface="Calibri" pitchFamily="34" charset="0"/>
                <a:ea typeface="Calibri" pitchFamily="34" charset="-122"/>
                <a:cs typeface="Calibri" pitchFamily="34" charset="-120"/>
              </a:rPr>
              <a:t>23K91A05E2   Malkajgiri Akshitha</a:t>
            </a:r>
            <a:endParaRPr lang="en-US" sz="1600" dirty="0"/>
          </a:p>
          <a:p>
            <a:pPr indent="0" marL="0">
              <a:buNone/>
            </a:pPr>
            <a:r>
              <a:rPr lang="en-US" sz="1600" dirty="0">
                <a:solidFill>
                  <a:srgbClr val="222222"/>
                </a:solidFill>
                <a:latin typeface="Calibri" pitchFamily="34" charset="0"/>
                <a:ea typeface="Calibri" pitchFamily="34" charset="-122"/>
                <a:cs typeface="Calibri" pitchFamily="34" charset="-120"/>
              </a:rPr>
              <a:t>23K91A05E7   Maravajhala Radha Sri Aashritha</a:t>
            </a:r>
            <a:endParaRPr lang="en-US" sz="1600" dirty="0"/>
          </a:p>
        </p:txBody>
      </p:sp>
      <p:sp>
        <p:nvSpPr>
          <p:cNvPr id="8" name="Text 5"/>
          <p:cNvSpPr/>
          <p:nvPr/>
        </p:nvSpPr>
        <p:spPr>
          <a:xfrm>
            <a:off x="6675120" y="3110537"/>
            <a:ext cx="4937760" cy="1371600"/>
          </a:xfrm>
          <a:prstGeom prst="rect">
            <a:avLst/>
          </a:prstGeom>
          <a:noFill/>
          <a:ln/>
        </p:spPr>
        <p:txBody>
          <a:bodyPr wrap="square" rtlCol="0" anchor="t"/>
          <a:lstStyle/>
          <a:p>
            <a:pPr indent="0" marL="0">
              <a:buNone/>
            </a:pPr>
            <a:r>
              <a:rPr lang="en-US" sz="1600" b="1" dirty="0">
                <a:solidFill>
                  <a:srgbClr val="1F3864"/>
                </a:solidFill>
                <a:latin typeface="Calibri" pitchFamily="34" charset="0"/>
                <a:ea typeface="Calibri" pitchFamily="34" charset="-122"/>
                <a:cs typeface="Calibri" pitchFamily="34" charset="-120"/>
              </a:rPr>
              <a:t>Under the Esteemed Guidance of</a:t>
            </a:r>
            <a:endParaRPr lang="en-US" sz="1600" dirty="0"/>
          </a:p>
          <a:p>
            <a:pPr indent="0" marL="0">
              <a:buNone/>
            </a:pPr>
            <a:r>
              <a:rPr lang="en-US" sz="1600" b="1" dirty="0">
                <a:solidFill>
                  <a:srgbClr val="1F3864"/>
                </a:solidFill>
                <a:latin typeface="Calibri" pitchFamily="34" charset="0"/>
                <a:ea typeface="Calibri" pitchFamily="34" charset="-122"/>
                <a:cs typeface="Calibri" pitchFamily="34" charset="-120"/>
              </a:rPr>
              <a:t>K Rajasekhar Rao</a:t>
            </a:r>
            <a:endParaRPr lang="en-US" sz="1600" dirty="0"/>
          </a:p>
          <a:p>
            <a:pPr indent="0" marL="0">
              <a:buNone/>
            </a:pPr>
            <a:r>
              <a:rPr lang="en-US" sz="1600" b="1" dirty="0">
                <a:solidFill>
                  <a:srgbClr val="1F3864"/>
                </a:solidFill>
                <a:latin typeface="Calibri" pitchFamily="34" charset="0"/>
                <a:ea typeface="Calibri" pitchFamily="34" charset="-122"/>
                <a:cs typeface="Calibri" pitchFamily="34" charset="-120"/>
              </a:rPr>
              <a:t>[DESIGNATION], Department of CSE</a:t>
            </a:r>
            <a:endParaRPr lang="en-US" sz="1600" dirty="0"/>
          </a:p>
        </p:txBody>
      </p:sp>
      <p:sp>
        <p:nvSpPr>
          <p:cNvPr id="9" name="Text 6"/>
          <p:cNvSpPr/>
          <p:nvPr/>
        </p:nvSpPr>
        <p:spPr>
          <a:xfrm>
            <a:off x="548640" y="6035040"/>
            <a:ext cx="11064240" cy="320040"/>
          </a:xfrm>
          <a:prstGeom prst="rect">
            <a:avLst/>
          </a:prstGeom>
          <a:noFill/>
          <a:ln/>
        </p:spPr>
        <p:txBody>
          <a:bodyPr wrap="square" rtlCol="0" anchor="ctr"/>
          <a:lstStyle/>
          <a:p>
            <a:pPr algn="ctr" indent="0" marL="0">
              <a:buNone/>
            </a:pPr>
            <a:r>
              <a:rPr lang="en-US" sz="1200" dirty="0">
                <a:solidFill>
                  <a:srgbClr val="595959"/>
                </a:solidFill>
                <a:latin typeface="Calibri" pitchFamily="34" charset="0"/>
                <a:ea typeface="Calibri" pitchFamily="34" charset="-122"/>
                <a:cs typeface="Calibri" pitchFamily="34" charset="-120"/>
              </a:rPr>
              <a:t>DEPARTMENT OF COMPUTER SCIENCE AND ENGINEERING  ·  [COLLEGE NAME]  ·  Academic Year [ACADEMIC YEAR]</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Table of Contents</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C6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2</a:t>
            </a:r>
            <a:endParaRPr lang="en-US" sz="1000" dirty="0"/>
          </a:p>
        </p:txBody>
      </p:sp>
      <p:sp>
        <p:nvSpPr>
          <p:cNvPr id="7" name="Text 4"/>
          <p:cNvSpPr/>
          <p:nvPr/>
        </p:nvSpPr>
        <p:spPr>
          <a:xfrm>
            <a:off x="548640" y="1738937"/>
            <a:ext cx="11064240" cy="4524703"/>
          </a:xfrm>
          <a:prstGeom prst="rect">
            <a:avLst/>
          </a:prstGeom>
          <a:noFill/>
          <a:ln/>
        </p:spPr>
        <p:txBody>
          <a:bodyPr wrap="square" rtlCol="0" anchor="t"/>
          <a:lstStyle/>
          <a:p>
            <a:pPr marL="342900" indent="-342900">
              <a:spcAft>
                <a:spcPts val="1000"/>
              </a:spcAft>
              <a:buSzPct val="100000"/>
              <a:buChar char="•"/>
            </a:pPr>
            <a:r>
              <a:rPr lang="en-US" sz="1700" dirty="0">
                <a:solidFill>
                  <a:srgbClr val="222222"/>
                </a:solidFill>
                <a:latin typeface="Calibri" pitchFamily="34" charset="0"/>
                <a:ea typeface="Calibri" pitchFamily="34" charset="-122"/>
                <a:cs typeface="Calibri" pitchFamily="34" charset="-120"/>
              </a:rPr>
              <a:t>Abstract</a:t>
            </a:r>
            <a:endParaRPr lang="en-US" sz="1800" dirty="0"/>
          </a:p>
          <a:p>
            <a:pPr marL="342900" indent="-342900">
              <a:spcAft>
                <a:spcPts val="1000"/>
              </a:spcAft>
              <a:buSzPct val="100000"/>
              <a:buChar char="•"/>
            </a:pPr>
            <a:r>
              <a:rPr lang="en-US" sz="1700" dirty="0">
                <a:solidFill>
                  <a:srgbClr val="222222"/>
                </a:solidFill>
                <a:latin typeface="Calibri" pitchFamily="34" charset="0"/>
                <a:ea typeface="Calibri" pitchFamily="34" charset="-122"/>
                <a:cs typeface="Calibri" pitchFamily="34" charset="-120"/>
              </a:rPr>
              <a:t>Base Paper &amp; Literature Survey</a:t>
            </a:r>
            <a:endParaRPr lang="en-US" sz="1800" dirty="0"/>
          </a:p>
          <a:p>
            <a:pPr marL="342900" indent="-342900">
              <a:spcAft>
                <a:spcPts val="1000"/>
              </a:spcAft>
              <a:buSzPct val="100000"/>
              <a:buChar char="•"/>
            </a:pPr>
            <a:r>
              <a:rPr lang="en-US" sz="1700" dirty="0">
                <a:solidFill>
                  <a:srgbClr val="222222"/>
                </a:solidFill>
                <a:latin typeface="Calibri" pitchFamily="34" charset="0"/>
                <a:ea typeface="Calibri" pitchFamily="34" charset="-122"/>
                <a:cs typeface="Calibri" pitchFamily="34" charset="-120"/>
              </a:rPr>
              <a:t>Research Gap, Problem Statement &amp; Objectives</a:t>
            </a:r>
            <a:endParaRPr lang="en-US" sz="1800" dirty="0"/>
          </a:p>
          <a:p>
            <a:pPr marL="342900" indent="-342900">
              <a:spcAft>
                <a:spcPts val="1000"/>
              </a:spcAft>
              <a:buSzPct val="100000"/>
              <a:buChar char="•"/>
            </a:pPr>
            <a:r>
              <a:rPr lang="en-US" sz="1700" dirty="0">
                <a:solidFill>
                  <a:srgbClr val="222222"/>
                </a:solidFill>
                <a:latin typeface="Calibri" pitchFamily="34" charset="0"/>
                <a:ea typeface="Calibri" pitchFamily="34" charset="-122"/>
                <a:cs typeface="Calibri" pitchFamily="34" charset="-120"/>
              </a:rPr>
              <a:t>Proposed System &amp; Architecture</a:t>
            </a:r>
            <a:endParaRPr lang="en-US" sz="1800" dirty="0"/>
          </a:p>
          <a:p>
            <a:pPr marL="342900" indent="-342900">
              <a:spcAft>
                <a:spcPts val="1000"/>
              </a:spcAft>
              <a:buSzPct val="100000"/>
              <a:buChar char="•"/>
            </a:pPr>
            <a:r>
              <a:rPr lang="en-US" sz="1700" dirty="0">
                <a:solidFill>
                  <a:srgbClr val="222222"/>
                </a:solidFill>
                <a:latin typeface="Calibri" pitchFamily="34" charset="0"/>
                <a:ea typeface="Calibri" pitchFamily="34" charset="-122"/>
                <a:cs typeface="Calibri" pitchFamily="34" charset="-120"/>
              </a:rPr>
              <a:t>Methodology, Dataset &amp; Model</a:t>
            </a:r>
            <a:endParaRPr lang="en-US" sz="1800" dirty="0"/>
          </a:p>
          <a:p>
            <a:pPr marL="342900" indent="-342900">
              <a:spcAft>
                <a:spcPts val="1000"/>
              </a:spcAft>
              <a:buSzPct val="100000"/>
              <a:buChar char="•"/>
            </a:pPr>
            <a:r>
              <a:rPr lang="en-US" sz="1700" dirty="0">
                <a:solidFill>
                  <a:srgbClr val="222222"/>
                </a:solidFill>
                <a:latin typeface="Calibri" pitchFamily="34" charset="0"/>
                <a:ea typeface="Calibri" pitchFamily="34" charset="-122"/>
                <a:cs typeface="Calibri" pitchFamily="34" charset="-120"/>
              </a:rPr>
              <a:t>Firefly Workflow, Interaction &amp; Data Design</a:t>
            </a:r>
            <a:endParaRPr lang="en-US" sz="1800" dirty="0"/>
          </a:p>
          <a:p>
            <a:pPr marL="342900" indent="-342900">
              <a:spcAft>
                <a:spcPts val="1000"/>
              </a:spcAft>
              <a:buSzPct val="100000"/>
              <a:buChar char="•"/>
            </a:pPr>
            <a:r>
              <a:rPr lang="en-US" sz="1700" dirty="0">
                <a:solidFill>
                  <a:srgbClr val="222222"/>
                </a:solidFill>
                <a:latin typeface="Calibri" pitchFamily="34" charset="0"/>
                <a:ea typeface="Calibri" pitchFamily="34" charset="-122"/>
                <a:cs typeface="Calibri" pitchFamily="34" charset="-120"/>
              </a:rPr>
              <a:t>Implementation Highlights</a:t>
            </a:r>
            <a:endParaRPr lang="en-US" sz="1800" dirty="0"/>
          </a:p>
          <a:p>
            <a:pPr marL="342900" indent="-342900">
              <a:spcAft>
                <a:spcPts val="1000"/>
              </a:spcAft>
              <a:buSzPct val="100000"/>
              <a:buChar char="•"/>
            </a:pPr>
            <a:r>
              <a:rPr lang="en-US" sz="1700" dirty="0">
                <a:solidFill>
                  <a:srgbClr val="222222"/>
                </a:solidFill>
                <a:latin typeface="Calibri" pitchFamily="34" charset="0"/>
                <a:ea typeface="Calibri" pitchFamily="34" charset="-122"/>
                <a:cs typeface="Calibri" pitchFamily="34" charset="-120"/>
              </a:rPr>
              <a:t>Results, Confusion Matrix &amp; Parameter Analysis</a:t>
            </a:r>
            <a:endParaRPr lang="en-US" sz="1800" dirty="0"/>
          </a:p>
          <a:p>
            <a:pPr marL="342900" indent="-342900">
              <a:spcAft>
                <a:spcPts val="1000"/>
              </a:spcAft>
              <a:buSzPct val="100000"/>
              <a:buChar char="•"/>
            </a:pPr>
            <a:r>
              <a:rPr lang="en-US" sz="1700" dirty="0">
                <a:solidFill>
                  <a:srgbClr val="222222"/>
                </a:solidFill>
                <a:latin typeface="Calibri" pitchFamily="34" charset="0"/>
                <a:ea typeface="Calibri" pitchFamily="34" charset="-122"/>
                <a:cs typeface="Calibri" pitchFamily="34" charset="-120"/>
              </a:rPr>
              <a:t>Performance &amp; Testing</a:t>
            </a:r>
            <a:endParaRPr lang="en-US" sz="1800" dirty="0"/>
          </a:p>
          <a:p>
            <a:pPr marL="342900" indent="-342900">
              <a:spcAft>
                <a:spcPts val="1000"/>
              </a:spcAft>
              <a:buSzPct val="100000"/>
              <a:buChar char="•"/>
            </a:pPr>
            <a:r>
              <a:rPr lang="en-US" sz="1700" dirty="0">
                <a:solidFill>
                  <a:srgbClr val="222222"/>
                </a:solidFill>
                <a:latin typeface="Calibri" pitchFamily="34" charset="0"/>
                <a:ea typeface="Calibri" pitchFamily="34" charset="-122"/>
                <a:cs typeface="Calibri" pitchFamily="34" charset="-120"/>
              </a:rPr>
              <a:t>Comparison with Base Paper</a:t>
            </a:r>
            <a:endParaRPr lang="en-US" sz="1800" dirty="0"/>
          </a:p>
          <a:p>
            <a:pPr marL="342900" indent="-342900">
              <a:spcAft>
                <a:spcPts val="1000"/>
              </a:spcAft>
              <a:buSzPct val="100000"/>
              <a:buChar char="•"/>
            </a:pPr>
            <a:r>
              <a:rPr lang="en-US" sz="1700" dirty="0">
                <a:solidFill>
                  <a:srgbClr val="222222"/>
                </a:solidFill>
                <a:latin typeface="Calibri" pitchFamily="34" charset="0"/>
                <a:ea typeface="Calibri" pitchFamily="34" charset="-122"/>
                <a:cs typeface="Calibri" pitchFamily="34" charset="-120"/>
              </a:rPr>
              <a:t>Output Screens</a:t>
            </a:r>
            <a:endParaRPr lang="en-US" sz="1800" dirty="0"/>
          </a:p>
          <a:p>
            <a:pPr marL="342900" indent="-342900">
              <a:spcAft>
                <a:spcPts val="1000"/>
              </a:spcAft>
              <a:buSzPct val="100000"/>
              <a:buChar char="•"/>
            </a:pPr>
            <a:r>
              <a:rPr lang="en-US" sz="1700" dirty="0">
                <a:solidFill>
                  <a:srgbClr val="222222"/>
                </a:solidFill>
                <a:latin typeface="Calibri" pitchFamily="34" charset="0"/>
                <a:ea typeface="Calibri" pitchFamily="34" charset="-122"/>
                <a:cs typeface="Calibri" pitchFamily="34" charset="-120"/>
              </a:rPr>
              <a:t>Conclusion, Future Scope &amp; References</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Abstract</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C6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3</a:t>
            </a:r>
            <a:endParaRPr lang="en-US" sz="1000" dirty="0"/>
          </a:p>
        </p:txBody>
      </p:sp>
      <p:sp>
        <p:nvSpPr>
          <p:cNvPr id="7" name="TextBox 6"/>
          <p:cNvSpPr txBox="1"/>
          <p:nvPr/>
        </p:nvSpPr>
        <p:spPr>
          <a:xfrm>
            <a:off x="502920" y="1737360"/>
            <a:ext cx="11155680" cy="4480560"/>
          </a:xfrm>
          <a:prstGeom prst="rect">
            <a:avLst/>
          </a:prstGeom>
          <a:noFill/>
        </p:spPr>
        <p:txBody>
          <a:bodyPr wrap="square" lIns="0" rIns="0" tIns="0" bIns="0" anchor="t">
            <a:spAutoFit/>
          </a:bodyPr>
          <a:lstStyle/>
          <a:p>
            <a:pPr algn="l" marL="256032" indent="-201168">
              <a:spcAft>
                <a:spcPts val="1000"/>
              </a:spcAft>
              <a:buChar char="•"/>
            </a:pPr>
            <a:r>
              <a:rPr sz="1800" b="0" i="0">
                <a:solidFill>
                  <a:srgbClr val="222222"/>
                </a:solidFill>
                <a:latin typeface="Calibri"/>
                <a:ea typeface="Calibri"/>
                <a:cs typeface="Calibri"/>
              </a:rPr>
              <a:t>Fabricated news spreads faster than fact-checks, and detectors are often heavy neural models that report accuracy without their cost.</a:t>
            </a:r>
          </a:p>
          <a:p>
            <a:pPr algn="l" marL="256032" indent="-201168">
              <a:spcAft>
                <a:spcPts val="1000"/>
              </a:spcAft>
              <a:buChar char="•"/>
            </a:pPr>
            <a:r>
              <a:rPr sz="1800" b="0" i="0">
                <a:solidFill>
                  <a:srgbClr val="222222"/>
                </a:solidFill>
                <a:latin typeface="Calibri"/>
                <a:ea typeface="Calibri"/>
                <a:cs typeface="Calibri"/>
              </a:rPr>
              <a:t>TruthGlow is a light pipeline: TF-IDF and 25 stylometric features are reduced by PCA, the Firefly algorithm selects the components and tunes C and gamma, and a multi-class SVM returns REAL, PARTIALLY TRUE or FAKE with a confidence.</a:t>
            </a:r>
          </a:p>
          <a:p>
            <a:pPr algn="l" marL="256032" indent="-201168">
              <a:spcAft>
                <a:spcPts val="1000"/>
              </a:spcAft>
              <a:buChar char="•"/>
            </a:pPr>
            <a:r>
              <a:rPr sz="1800" b="0" i="0">
                <a:solidFill>
                  <a:srgbClr val="222222"/>
                </a:solidFill>
                <a:latin typeface="Calibri"/>
                <a:ea typeface="Calibri"/>
                <a:cs typeface="Calibri"/>
              </a:rPr>
              <a:t>On real fact-checked statements (LIAR2, 3,000 training statements, 3 seeds) it reaches macro-F1 </a:t>
            </a:r>
            <a:r>
              <a:rPr sz="1800" b="1" i="0">
                <a:solidFill>
                  <a:srgbClr val="222222"/>
                </a:solidFill>
                <a:latin typeface="Calibri"/>
                <a:ea typeface="Calibri"/>
                <a:cs typeface="Calibri"/>
              </a:rPr>
              <a:t>0.429 ± 0.010</a:t>
            </a:r>
            <a:r>
              <a:rPr sz="1800" b="0" i="0">
                <a:solidFill>
                  <a:srgbClr val="222222"/>
                </a:solidFill>
                <a:latin typeface="Calibri"/>
                <a:ea typeface="Calibri"/>
                <a:cs typeface="Calibri"/>
              </a:rPr>
              <a:t> and accuracy 0.494 ± 0.008 on 2,296 test statements; the task is hard and PARTIALLY TRUE is the weakest class.</a:t>
            </a:r>
          </a:p>
          <a:p>
            <a:pPr algn="l" marL="256032" indent="-201168">
              <a:spcAft>
                <a:spcPts val="1000"/>
              </a:spcAft>
              <a:buChar char="•"/>
            </a:pPr>
            <a:r>
              <a:rPr sz="1800" b="0" i="0">
                <a:solidFill>
                  <a:srgbClr val="222222"/>
                </a:solidFill>
                <a:latin typeface="Calibri"/>
                <a:ea typeface="Calibri"/>
                <a:cs typeface="Calibri"/>
              </a:rPr>
              <a:t>The optimiser gave no clear gain over PCA with a default SVM or random search, and simple TF-IDF linear models score higher at a tiny fraction of the cost.</a:t>
            </a:r>
          </a:p>
          <a:p>
            <a:pPr algn="l" marL="256032" indent="-201168">
              <a:spcAft>
                <a:spcPts val="400"/>
              </a:spcAft>
              <a:buChar char="•"/>
            </a:pPr>
            <a:r>
              <a:rPr sz="1800" b="0" i="0">
                <a:solidFill>
                  <a:srgbClr val="222222"/>
                </a:solidFill>
                <a:latin typeface="Calibri"/>
                <a:ea typeface="Calibri"/>
                <a:cs typeface="Calibri"/>
              </a:rPr>
              <a:t>A FastAPI service and React web app add batch checking, analytics and retraining; 83 automated checks pass.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Base Paper</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C6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4</a:t>
            </a:r>
            <a:endParaRPr lang="en-US" sz="1000" dirty="0"/>
          </a:p>
        </p:txBody>
      </p:sp>
      <p:sp>
        <p:nvSpPr>
          <p:cNvPr id="7" name="TextBox 6"/>
          <p:cNvSpPr txBox="1"/>
          <p:nvPr/>
        </p:nvSpPr>
        <p:spPr>
          <a:xfrm>
            <a:off x="502920" y="1691640"/>
            <a:ext cx="11155680" cy="868680"/>
          </a:xfrm>
          <a:prstGeom prst="rect">
            <a:avLst/>
          </a:prstGeom>
          <a:noFill/>
        </p:spPr>
        <p:txBody>
          <a:bodyPr wrap="square" lIns="0" rIns="0" tIns="0" bIns="0" anchor="t">
            <a:spAutoFit/>
          </a:bodyPr>
          <a:lstStyle/>
          <a:p>
            <a:pPr algn="l">
              <a:spcAft>
                <a:spcPts val="400"/>
              </a:spcAft>
            </a:pPr>
            <a:r>
              <a:rPr sz="1300" b="0" i="0">
                <a:solidFill>
                  <a:srgbClr val="1F3864"/>
                </a:solidFill>
                <a:latin typeface="Calibri"/>
                <a:ea typeface="Calibri"/>
                <a:cs typeface="Calibri"/>
              </a:rPr>
              <a:t>M. Saad, S. Abdelrazek and I. R. Abdelmaksoud, "An algorithmic system for Arabic fake news detection using neural networks and transformer embeddings with class weighting," Scientific Reports, vol. 16, Art. no. 12226, 2026, doi: 10.1038/s41598-026-45653-4.</a:t>
            </a:r>
          </a:p>
        </p:txBody>
      </p:sp>
      <p:graphicFrame>
        <p:nvGraphicFramePr>
          <p:cNvPr id="8" name="Table 7"/>
          <p:cNvGraphicFramePr>
            <a:graphicFrameLocks noGrp="1"/>
          </p:cNvGraphicFramePr>
          <p:nvPr/>
        </p:nvGraphicFramePr>
        <p:xfrm>
          <a:off x="502920" y="2651760"/>
          <a:ext cx="11155680" cy="3566160"/>
        </p:xfrm>
        <a:graphic>
          <a:graphicData uri="http://schemas.openxmlformats.org/drawingml/2006/table">
            <a:tbl>
              <a:tblPr firstRow="0" bandRow="0">
                <a:tableStyleId>{5C22544A-7EE6-4342-B048-85BDC9FD1C3A}</a:tableStyleId>
              </a:tblPr>
              <a:tblGrid>
                <a:gridCol w="1828800"/>
                <a:gridCol w="9326880"/>
              </a:tblGrid>
              <a:tr h="713232">
                <a:tc>
                  <a:txBody>
                    <a:bodyPr wrap="square"/>
                    <a:lstStyle/>
                    <a:p>
                      <a:pPr algn="ctr"/>
                      <a:r>
                        <a:rPr sz="1400" b="1">
                          <a:solidFill>
                            <a:srgbClr val="1F3864"/>
                          </a:solidFill>
                          <a:latin typeface="Calibri"/>
                          <a:ea typeface="Calibri"/>
                          <a:cs typeface="Calibri"/>
                        </a:rPr>
                        <a:t>Aspect</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DEEAF6"/>
                    </a:solidFill>
                  </a:tcPr>
                </a:tc>
                <a:tc>
                  <a:txBody>
                    <a:bodyPr wrap="square"/>
                    <a:lstStyle/>
                    <a:p>
                      <a:pPr algn="ctr"/>
                      <a:r>
                        <a:rPr sz="1400" b="1">
                          <a:solidFill>
                            <a:srgbClr val="1F3864"/>
                          </a:solidFill>
                          <a:latin typeface="Calibri"/>
                          <a:ea typeface="Calibri"/>
                          <a:cs typeface="Calibri"/>
                        </a:rPr>
                        <a:t>Base paper (Saad et al., 2026)</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DEEAF6"/>
                    </a:solidFill>
                  </a:tcPr>
                </a:tc>
              </a:tr>
              <a:tr h="713232">
                <a:tc>
                  <a:txBody>
                    <a:bodyPr wrap="square"/>
                    <a:lstStyle/>
                    <a:p>
                      <a:pPr algn="l"/>
                      <a:r>
                        <a:rPr sz="1400" b="1">
                          <a:solidFill>
                            <a:srgbClr val="222222"/>
                          </a:solidFill>
                          <a:latin typeface="Calibri"/>
                          <a:ea typeface="Calibri"/>
                          <a:cs typeface="Calibri"/>
                        </a:rPr>
                        <a:t>Method</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400" b="0">
                          <a:solidFill>
                            <a:srgbClr val="222222"/>
                          </a:solidFill>
                          <a:latin typeface="Calibri"/>
                          <a:ea typeface="Calibri"/>
                          <a:cs typeface="Calibri"/>
                        </a:rPr>
                        <a:t>CAMeLBERT contextual embeddings as fixed features, a neural-network classifier, class weighting for imbalance; compared with AraBERT, AraELECTRA, MARBERTv2 and resampling (over, under, SMOTE)</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r>
              <a:tr h="713232">
                <a:tc>
                  <a:txBody>
                    <a:bodyPr wrap="square"/>
                    <a:lstStyle/>
                    <a:p>
                      <a:pPr algn="l"/>
                      <a:r>
                        <a:rPr sz="1400" b="1">
                          <a:solidFill>
                            <a:srgbClr val="222222"/>
                          </a:solidFill>
                          <a:latin typeface="Calibri"/>
                          <a:ea typeface="Calibri"/>
                          <a:cs typeface="Calibri"/>
                        </a:rPr>
                        <a:t>Data</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l"/>
                      <a:r>
                        <a:rPr sz="1400" b="0">
                          <a:solidFill>
                            <a:srgbClr val="222222"/>
                          </a:solidFill>
                          <a:latin typeface="Calibri"/>
                          <a:ea typeface="Calibri"/>
                          <a:cs typeface="Calibri"/>
                        </a:rPr>
                        <a:t>7,474 Arabic news articles (2015-2025; trusted sources, unverified online content, part translated from LIAR and WELFake); Fleiss' kappa 0.80; binary real / fake; 80 / 20 split</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r>
              <a:tr h="713232">
                <a:tc>
                  <a:txBody>
                    <a:bodyPr wrap="square"/>
                    <a:lstStyle/>
                    <a:p>
                      <a:pPr algn="l"/>
                      <a:r>
                        <a:rPr sz="1400" b="1">
                          <a:solidFill>
                            <a:srgbClr val="222222"/>
                          </a:solidFill>
                          <a:latin typeface="Calibri"/>
                          <a:ea typeface="Calibri"/>
                          <a:cs typeface="Calibri"/>
                        </a:rPr>
                        <a:t>Reported results</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400" b="0">
                          <a:solidFill>
                            <a:srgbClr val="222222"/>
                          </a:solidFill>
                          <a:latin typeface="Calibri"/>
                          <a:ea typeface="Calibri"/>
                          <a:cs typeface="Calibri"/>
                        </a:rPr>
                        <a:t>F1 96.19 %, accuracy 95.52 %, precision 95.48 %, recall 96.90 %; TF-IDF + NN baseline accuracy 90.97 %; LIME and SHAP explanations</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r>
              <a:tr h="713232">
                <a:tc>
                  <a:txBody>
                    <a:bodyPr wrap="square"/>
                    <a:lstStyle/>
                    <a:p>
                      <a:pPr algn="l"/>
                      <a:r>
                        <a:rPr sz="1400" b="1">
                          <a:solidFill>
                            <a:srgbClr val="222222"/>
                          </a:solidFill>
                          <a:latin typeface="Calibri"/>
                          <a:ea typeface="Calibri"/>
                          <a:cs typeface="Calibri"/>
                        </a:rPr>
                        <a:t>Stated limits</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l"/>
                      <a:r>
                        <a:rPr sz="1400" b="0">
                          <a:solidFill>
                            <a:srgbClr val="222222"/>
                          </a:solidFill>
                          <a:latin typeface="Calibri"/>
                          <a:ea typeface="Calibri"/>
                          <a:cs typeface="Calibri"/>
                        </a:rPr>
                        <a:t>Cross-domain generalisation and real-time deployment left for future work; trained on a Tesla T4 GPU</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Literature Survey</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C6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5</a:t>
            </a:r>
            <a:endParaRPr lang="en-US" sz="1000" dirty="0"/>
          </a:p>
        </p:txBody>
      </p:sp>
      <p:graphicFrame>
        <p:nvGraphicFramePr>
          <p:cNvPr id="7" name="Table 6"/>
          <p:cNvGraphicFramePr>
            <a:graphicFrameLocks noGrp="1"/>
          </p:cNvGraphicFramePr>
          <p:nvPr/>
        </p:nvGraphicFramePr>
        <p:xfrm>
          <a:off x="502920" y="1691640"/>
          <a:ext cx="11155680" cy="4224528"/>
        </p:xfrm>
        <a:graphic>
          <a:graphicData uri="http://schemas.openxmlformats.org/drawingml/2006/table">
            <a:tbl>
              <a:tblPr firstRow="0" bandRow="0">
                <a:tableStyleId>{5C22544A-7EE6-4342-B048-85BDC9FD1C3A}</a:tableStyleId>
              </a:tblPr>
              <a:tblGrid>
                <a:gridCol w="1828800"/>
                <a:gridCol w="2834640"/>
                <a:gridCol w="2194560"/>
                <a:gridCol w="2286000"/>
                <a:gridCol w="2011680"/>
              </a:tblGrid>
              <a:tr h="603504">
                <a:tc>
                  <a:txBody>
                    <a:bodyPr wrap="square"/>
                    <a:lstStyle/>
                    <a:p>
                      <a:pPr algn="ctr"/>
                      <a:r>
                        <a:rPr sz="1100" b="1">
                          <a:solidFill>
                            <a:srgbClr val="1F3864"/>
                          </a:solidFill>
                          <a:latin typeface="Calibri"/>
                          <a:ea typeface="Calibri"/>
                          <a:cs typeface="Calibri"/>
                        </a:rPr>
                        <a:t>Author / Year</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DEEAF6"/>
                    </a:solidFill>
                  </a:tcPr>
                </a:tc>
                <a:tc>
                  <a:txBody>
                    <a:bodyPr wrap="square"/>
                    <a:lstStyle/>
                    <a:p>
                      <a:pPr algn="ctr"/>
                      <a:r>
                        <a:rPr sz="1100" b="1">
                          <a:solidFill>
                            <a:srgbClr val="1F3864"/>
                          </a:solidFill>
                          <a:latin typeface="Calibri"/>
                          <a:ea typeface="Calibri"/>
                          <a:cs typeface="Calibri"/>
                        </a:rPr>
                        <a:t>Methodology</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DEEAF6"/>
                    </a:solidFill>
                  </a:tcPr>
                </a:tc>
                <a:tc>
                  <a:txBody>
                    <a:bodyPr wrap="square"/>
                    <a:lstStyle/>
                    <a:p>
                      <a:pPr algn="ctr"/>
                      <a:r>
                        <a:rPr sz="1100" b="1">
                          <a:solidFill>
                            <a:srgbClr val="1F3864"/>
                          </a:solidFill>
                          <a:latin typeface="Calibri"/>
                          <a:ea typeface="Calibri"/>
                          <a:cs typeface="Calibri"/>
                        </a:rPr>
                        <a:t>Dataset</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DEEAF6"/>
                    </a:solidFill>
                  </a:tcPr>
                </a:tc>
                <a:tc>
                  <a:txBody>
                    <a:bodyPr wrap="square"/>
                    <a:lstStyle/>
                    <a:p>
                      <a:pPr algn="ctr"/>
                      <a:r>
                        <a:rPr sz="1100" b="1">
                          <a:solidFill>
                            <a:srgbClr val="1F3864"/>
                          </a:solidFill>
                          <a:latin typeface="Calibri"/>
                          <a:ea typeface="Calibri"/>
                          <a:cs typeface="Calibri"/>
                        </a:rPr>
                        <a:t>Key Results</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DEEAF6"/>
                    </a:solidFill>
                  </a:tcPr>
                </a:tc>
                <a:tc>
                  <a:txBody>
                    <a:bodyPr wrap="square"/>
                    <a:lstStyle/>
                    <a:p>
                      <a:pPr algn="ctr"/>
                      <a:r>
                        <a:rPr sz="1100" b="1">
                          <a:solidFill>
                            <a:srgbClr val="1F3864"/>
                          </a:solidFill>
                          <a:latin typeface="Calibri"/>
                          <a:ea typeface="Calibri"/>
                          <a:cs typeface="Calibri"/>
                        </a:rPr>
                        <a:t>Limitations</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DEEAF6"/>
                    </a:solidFill>
                  </a:tcPr>
                </a:tc>
              </a:tr>
              <a:tr h="603504">
                <a:tc>
                  <a:txBody>
                    <a:bodyPr wrap="square"/>
                    <a:lstStyle/>
                    <a:p>
                      <a:pPr algn="l"/>
                      <a:r>
                        <a:rPr sz="1100" b="1">
                          <a:solidFill>
                            <a:srgbClr val="222222"/>
                          </a:solidFill>
                          <a:latin typeface="Calibri"/>
                          <a:ea typeface="Calibri"/>
                          <a:cs typeface="Calibri"/>
                        </a:rPr>
                        <a:t>Saad et al. 2026 [1]</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100" b="0">
                          <a:solidFill>
                            <a:srgbClr val="222222"/>
                          </a:solidFill>
                          <a:latin typeface="Calibri"/>
                          <a:ea typeface="Calibri"/>
                          <a:cs typeface="Calibri"/>
                        </a:rPr>
                        <a:t>CAMeLBERT embeddings + NN, class weighting</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100" b="0">
                          <a:solidFill>
                            <a:srgbClr val="222222"/>
                          </a:solidFill>
                          <a:latin typeface="Calibri"/>
                          <a:ea typeface="Calibri"/>
                          <a:cs typeface="Calibri"/>
                        </a:rPr>
                        <a:t>7,474 Arabic articles, binary</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100" b="0">
                          <a:solidFill>
                            <a:srgbClr val="222222"/>
                          </a:solidFill>
                          <a:latin typeface="Calibri"/>
                          <a:ea typeface="Calibri"/>
                          <a:cs typeface="Calibri"/>
                        </a:rPr>
                        <a:t>F1 96.19 %, acc. 95.52 %</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100" b="0">
                          <a:solidFill>
                            <a:srgbClr val="222222"/>
                          </a:solidFill>
                          <a:latin typeface="Calibri"/>
                          <a:ea typeface="Calibri"/>
                          <a:cs typeface="Calibri"/>
                        </a:rPr>
                        <a:t>Arabic, binary, GPU transformer</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r>
              <a:tr h="603504">
                <a:tc>
                  <a:txBody>
                    <a:bodyPr wrap="square"/>
                    <a:lstStyle/>
                    <a:p>
                      <a:pPr algn="l"/>
                      <a:r>
                        <a:rPr sz="1100" b="1">
                          <a:solidFill>
                            <a:srgbClr val="222222"/>
                          </a:solidFill>
                          <a:latin typeface="Calibri"/>
                          <a:ea typeface="Calibri"/>
                          <a:cs typeface="Calibri"/>
                        </a:rPr>
                        <a:t>Dell'Oglio et al. 2026 [2]</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l"/>
                      <a:r>
                        <a:rPr sz="1100" b="0">
                          <a:solidFill>
                            <a:srgbClr val="222222"/>
                          </a:solidFill>
                          <a:latin typeface="Calibri"/>
                          <a:ea typeface="Calibri"/>
                          <a:cs typeface="Calibri"/>
                        </a:rPr>
                        <a:t>12 approaches compared (ML, DL, transformers, LLMs)</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l"/>
                      <a:r>
                        <a:rPr sz="1100" b="0">
                          <a:solidFill>
                            <a:srgbClr val="222222"/>
                          </a:solidFill>
                          <a:latin typeface="Calibri"/>
                          <a:ea typeface="Calibri"/>
                          <a:cs typeface="Calibri"/>
                        </a:rPr>
                        <a:t>10 English datasets incl. LIAR-PLUS</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l"/>
                      <a:r>
                        <a:rPr sz="1100" b="0">
                          <a:solidFill>
                            <a:srgbClr val="222222"/>
                          </a:solidFill>
                          <a:latin typeface="Calibri"/>
                          <a:ea typeface="Calibri"/>
                          <a:cs typeface="Calibri"/>
                        </a:rPr>
                        <a:t>LIAR-PLUS hardest: F1 0.56 (LR), 0.57 (SVM)</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l"/>
                      <a:r>
                        <a:rPr sz="1100" b="0">
                          <a:solidFill>
                            <a:srgbClr val="222222"/>
                          </a:solidFill>
                          <a:latin typeface="Calibri"/>
                          <a:ea typeface="Calibri"/>
                          <a:cs typeface="Calibri"/>
                        </a:rPr>
                        <a:t>Binary labels hide half-truths</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r>
              <a:tr h="603504">
                <a:tc>
                  <a:txBody>
                    <a:bodyPr wrap="square"/>
                    <a:lstStyle/>
                    <a:p>
                      <a:pPr algn="l"/>
                      <a:r>
                        <a:rPr sz="1100" b="1">
                          <a:solidFill>
                            <a:srgbClr val="222222"/>
                          </a:solidFill>
                          <a:latin typeface="Calibri"/>
                          <a:ea typeface="Calibri"/>
                          <a:cs typeface="Calibri"/>
                        </a:rPr>
                        <a:t>Huang et al. 2025 [3]</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100" b="0">
                          <a:solidFill>
                            <a:srgbClr val="222222"/>
                          </a:solidFill>
                          <a:latin typeface="Calibri"/>
                          <a:ea typeface="Calibri"/>
                          <a:cs typeface="Calibri"/>
                        </a:rPr>
                        <a:t>TF-IDF + Transformer / BiGRU + Bayesian optimisation</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100" b="0">
                          <a:solidFill>
                            <a:srgbClr val="222222"/>
                          </a:solidFill>
                          <a:latin typeface="Calibri"/>
                          <a:ea typeface="Calibri"/>
                          <a:cs typeface="Calibri"/>
                        </a:rPr>
                        <a:t>Fake / real news corpus</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100" b="0">
                          <a:solidFill>
                            <a:srgbClr val="222222"/>
                          </a:solidFill>
                          <a:latin typeface="Calibri"/>
                          <a:ea typeface="Calibri"/>
                          <a:cs typeface="Calibri"/>
                        </a:rPr>
                        <a:t>99.73 % test accuracy</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100" b="0">
                          <a:solidFill>
                            <a:srgbClr val="222222"/>
                          </a:solidFill>
                          <a:latin typeface="Calibri"/>
                          <a:ea typeface="Calibri"/>
                          <a:cs typeface="Calibri"/>
                        </a:rPr>
                        <a:t>Binary; near-perfect score on easy data</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r>
              <a:tr h="603504">
                <a:tc>
                  <a:txBody>
                    <a:bodyPr wrap="square"/>
                    <a:lstStyle/>
                    <a:p>
                      <a:pPr algn="l"/>
                      <a:r>
                        <a:rPr sz="1100" b="1">
                          <a:solidFill>
                            <a:srgbClr val="222222"/>
                          </a:solidFill>
                          <a:latin typeface="Calibri"/>
                          <a:ea typeface="Calibri"/>
                          <a:cs typeface="Calibri"/>
                        </a:rPr>
                        <a:t>Xu and Kechadi 2024 [4]</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l"/>
                      <a:r>
                        <a:rPr sz="1100" b="0">
                          <a:solidFill>
                            <a:srgbClr val="222222"/>
                          </a:solidFill>
                          <a:latin typeface="Calibri"/>
                          <a:ea typeface="Calibri"/>
                          <a:cs typeface="Calibri"/>
                        </a:rPr>
                        <a:t>Fuzzy deep hybrid network; releases LIAR2</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l"/>
                      <a:r>
                        <a:rPr sz="1100" b="0">
                          <a:solidFill>
                            <a:srgbClr val="222222"/>
                          </a:solidFill>
                          <a:latin typeface="Calibri"/>
                          <a:ea typeface="Calibri"/>
                          <a:cs typeface="Calibri"/>
                        </a:rPr>
                        <a:t>LIAR2, 18,369 / 2,297 / 2,296</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l"/>
                      <a:r>
                        <a:rPr sz="1100" b="0">
                          <a:solidFill>
                            <a:srgbClr val="222222"/>
                          </a:solidFill>
                          <a:latin typeface="Calibri"/>
                          <a:ea typeface="Calibri"/>
                          <a:cs typeface="Calibri"/>
                        </a:rPr>
                        <a:t>Benchmark used here</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l"/>
                      <a:r>
                        <a:rPr sz="1100" b="0">
                          <a:solidFill>
                            <a:srgbClr val="222222"/>
                          </a:solidFill>
                          <a:latin typeface="Calibri"/>
                          <a:ea typeface="Calibri"/>
                          <a:cs typeface="Calibri"/>
                        </a:rPr>
                        <a:t>Deep model; no cheap baseline</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r>
              <a:tr h="603504">
                <a:tc>
                  <a:txBody>
                    <a:bodyPr wrap="square"/>
                    <a:lstStyle/>
                    <a:p>
                      <a:pPr algn="l"/>
                      <a:r>
                        <a:rPr sz="1100" b="1">
                          <a:solidFill>
                            <a:srgbClr val="222222"/>
                          </a:solidFill>
                          <a:latin typeface="Calibri"/>
                          <a:ea typeface="Calibri"/>
                          <a:cs typeface="Calibri"/>
                        </a:rPr>
                        <a:t>Ahmed et al. 2017 [19]</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100" b="0">
                          <a:solidFill>
                            <a:srgbClr val="222222"/>
                          </a:solidFill>
                          <a:latin typeface="Calibri"/>
                          <a:ea typeface="Calibri"/>
                          <a:cs typeface="Calibri"/>
                        </a:rPr>
                        <a:t>N-gram TF-IDF with classical classifiers</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100" b="0">
                          <a:solidFill>
                            <a:srgbClr val="222222"/>
                          </a:solidFill>
                          <a:latin typeface="Calibri"/>
                          <a:ea typeface="Calibri"/>
                          <a:cs typeface="Calibri"/>
                        </a:rPr>
                        <a:t>News article corpora</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100" b="0">
                          <a:solidFill>
                            <a:srgbClr val="222222"/>
                          </a:solidFill>
                          <a:latin typeface="Calibri"/>
                          <a:ea typeface="Calibri"/>
                          <a:cs typeface="Calibri"/>
                        </a:rPr>
                        <a:t>Linear SVM among the best classical</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100" b="0">
                          <a:solidFill>
                            <a:srgbClr val="222222"/>
                          </a:solidFill>
                          <a:latin typeface="Calibri"/>
                          <a:ea typeface="Calibri"/>
                          <a:cs typeface="Calibri"/>
                        </a:rPr>
                        <a:t>Binary, article level</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r>
              <a:tr h="603504">
                <a:tc>
                  <a:txBody>
                    <a:bodyPr wrap="square"/>
                    <a:lstStyle/>
                    <a:p>
                      <a:pPr algn="l"/>
                      <a:r>
                        <a:rPr sz="1100" b="1">
                          <a:solidFill>
                            <a:srgbClr val="222222"/>
                          </a:solidFill>
                          <a:latin typeface="Calibri"/>
                          <a:ea typeface="Calibri"/>
                          <a:cs typeface="Calibri"/>
                        </a:rPr>
                        <a:t>Zhang et al. 2018 [25]</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l"/>
                      <a:r>
                        <a:rPr sz="1100" b="0">
                          <a:solidFill>
                            <a:srgbClr val="222222"/>
                          </a:solidFill>
                          <a:latin typeface="Calibri"/>
                          <a:ea typeface="Calibri"/>
                          <a:cs typeface="Calibri"/>
                        </a:rPr>
                        <a:t>Firefly feature selection for classification</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l"/>
                      <a:r>
                        <a:rPr sz="1100" b="0">
                          <a:solidFill>
                            <a:srgbClr val="222222"/>
                          </a:solidFill>
                          <a:latin typeface="Calibri"/>
                          <a:ea typeface="Calibri"/>
                          <a:cs typeface="Calibri"/>
                        </a:rPr>
                        <a:t>Benchmark datasets</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l"/>
                      <a:r>
                        <a:rPr sz="1100" b="0">
                          <a:solidFill>
                            <a:srgbClr val="222222"/>
                          </a:solidFill>
                          <a:latin typeface="Calibri"/>
                          <a:ea typeface="Calibri"/>
                          <a:cs typeface="Calibri"/>
                        </a:rPr>
                        <a:t>Smaller feature sets at similar accuracy</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l"/>
                      <a:r>
                        <a:rPr sz="1100" b="0">
                          <a:solidFill>
                            <a:srgbClr val="222222"/>
                          </a:solidFill>
                          <a:latin typeface="Calibri"/>
                          <a:ea typeface="Calibri"/>
                          <a:cs typeface="Calibri"/>
                        </a:rPr>
                        <a:t>Search cost; data dependent</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Research Gap</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C6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6</a:t>
            </a:r>
            <a:endParaRPr lang="en-US" sz="1000" dirty="0"/>
          </a:p>
        </p:txBody>
      </p:sp>
      <p:sp>
        <p:nvSpPr>
          <p:cNvPr id="7" name="TextBox 6"/>
          <p:cNvSpPr txBox="1"/>
          <p:nvPr/>
        </p:nvSpPr>
        <p:spPr>
          <a:xfrm>
            <a:off x="502920" y="1783080"/>
            <a:ext cx="11155680" cy="4389120"/>
          </a:xfrm>
          <a:prstGeom prst="rect">
            <a:avLst/>
          </a:prstGeom>
          <a:noFill/>
        </p:spPr>
        <p:txBody>
          <a:bodyPr wrap="square" lIns="0" rIns="0" tIns="0" bIns="0" anchor="t">
            <a:spAutoFit/>
          </a:bodyPr>
          <a:lstStyle/>
          <a:p>
            <a:pPr algn="l" marL="256032" indent="-201168">
              <a:spcAft>
                <a:spcPts val="1200"/>
              </a:spcAft>
              <a:buChar char="•"/>
            </a:pPr>
            <a:r>
              <a:rPr sz="1800" b="1" i="0">
                <a:solidFill>
                  <a:srgbClr val="222222"/>
                </a:solidFill>
                <a:latin typeface="Calibri"/>
                <a:ea typeface="Calibri"/>
                <a:cs typeface="Calibri"/>
              </a:rPr>
              <a:t>Stated gap:</a:t>
            </a:r>
            <a:r>
              <a:rPr sz="1800" b="0" i="0">
                <a:solidFill>
                  <a:srgbClr val="222222"/>
                </a:solidFill>
                <a:latin typeface="Calibri"/>
                <a:ea typeface="Calibri"/>
                <a:cs typeface="Calibri"/>
              </a:rPr>
              <a:t> The surveyed work applies neural and transformer models to fake news detection. The gap is a computationally light pipeline where feature reduction and metaheuristic parameter tuning deliver comparable accuracy at lower cost.</a:t>
            </a:r>
          </a:p>
          <a:p>
            <a:pPr algn="l" marL="256032" indent="-201168">
              <a:spcAft>
                <a:spcPts val="1200"/>
              </a:spcAft>
              <a:buChar char="•"/>
            </a:pPr>
            <a:r>
              <a:rPr sz="1800" b="1" i="0">
                <a:solidFill>
                  <a:srgbClr val="222222"/>
                </a:solidFill>
                <a:latin typeface="Calibri"/>
                <a:ea typeface="Calibri"/>
                <a:cs typeface="Calibri"/>
              </a:rPr>
              <a:t>Middle verdict:</a:t>
            </a:r>
            <a:r>
              <a:rPr sz="1800" b="0" i="0">
                <a:solidFill>
                  <a:srgbClr val="222222"/>
                </a:solidFill>
                <a:latin typeface="Calibri"/>
                <a:ea typeface="Calibri"/>
                <a:cs typeface="Calibri"/>
              </a:rPr>
              <a:t> binary detectors have no place for half-true claims, which are common in fact-checking.</a:t>
            </a:r>
          </a:p>
          <a:p>
            <a:pPr algn="l" marL="256032" indent="-201168">
              <a:spcAft>
                <a:spcPts val="1200"/>
              </a:spcAft>
              <a:buChar char="•"/>
            </a:pPr>
            <a:r>
              <a:rPr sz="1800" b="1" i="0">
                <a:solidFill>
                  <a:srgbClr val="222222"/>
                </a:solidFill>
                <a:latin typeface="Calibri"/>
                <a:ea typeface="Calibri"/>
                <a:cs typeface="Calibri"/>
              </a:rPr>
              <a:t>Cost is rarely reported:</a:t>
            </a:r>
            <a:r>
              <a:rPr sz="1800" b="0" i="0">
                <a:solidFill>
                  <a:srgbClr val="222222"/>
                </a:solidFill>
                <a:latin typeface="Calibri"/>
                <a:ea typeface="Calibri"/>
                <a:cs typeface="Calibri"/>
              </a:rPr>
              <a:t> training time and inference latency are seldom given next to accuracy.</a:t>
            </a:r>
          </a:p>
          <a:p>
            <a:pPr algn="l" marL="256032" indent="-201168">
              <a:spcAft>
                <a:spcPts val="1200"/>
              </a:spcAft>
              <a:buChar char="•"/>
            </a:pPr>
            <a:r>
              <a:rPr sz="1800" b="1" i="0">
                <a:solidFill>
                  <a:srgbClr val="222222"/>
                </a:solidFill>
                <a:latin typeface="Calibri"/>
                <a:ea typeface="Calibri"/>
                <a:cs typeface="Calibri"/>
              </a:rPr>
              <a:t>Fair baselines:</a:t>
            </a:r>
            <a:r>
              <a:rPr sz="1800" b="0" i="0">
                <a:solidFill>
                  <a:srgbClr val="222222"/>
                </a:solidFill>
                <a:latin typeface="Calibri"/>
                <a:ea typeface="Calibri"/>
                <a:cs typeface="Calibri"/>
              </a:rPr>
              <a:t> metaheuristic tuning is rarely compared with plain random search or with a linear model on the same data.</a:t>
            </a:r>
          </a:p>
          <a:p>
            <a:pPr algn="l" marL="256032" indent="-201168">
              <a:spcAft>
                <a:spcPts val="400"/>
              </a:spcAft>
              <a:buChar char="•"/>
            </a:pPr>
            <a:r>
              <a:rPr sz="1800" b="1" i="0">
                <a:solidFill>
                  <a:srgbClr val="222222"/>
                </a:solidFill>
                <a:latin typeface="Calibri"/>
                <a:ea typeface="Calibri"/>
                <a:cs typeface="Calibri"/>
              </a:rPr>
              <a:t>Usability:</a:t>
            </a:r>
            <a:r>
              <a:rPr sz="1800" b="0" i="0">
                <a:solidFill>
                  <a:srgbClr val="222222"/>
                </a:solidFill>
                <a:latin typeface="Calibri"/>
                <a:ea typeface="Calibri"/>
                <a:cs typeface="Calibri"/>
              </a:rPr>
              <a:t> few works package the detector so that a non-expert can check text, screen a file and retrain.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Problem Statement</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C6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7</a:t>
            </a:r>
            <a:endParaRPr lang="en-US" sz="1000" dirty="0"/>
          </a:p>
        </p:txBody>
      </p:sp>
      <p:sp>
        <p:nvSpPr>
          <p:cNvPr id="7" name="Rounded Rectangle 6"/>
          <p:cNvSpPr/>
          <p:nvPr/>
        </p:nvSpPr>
        <p:spPr>
          <a:xfrm>
            <a:off x="502920" y="1783080"/>
            <a:ext cx="11155680" cy="1920240"/>
          </a:xfrm>
          <a:prstGeom prst="roundRect">
            <a:avLst>
              <a:gd name="adj" fmla="val 4000"/>
            </a:avLst>
          </a:prstGeom>
          <a:solidFill>
            <a:srgbClr val="DEEA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77240" y="1828800"/>
            <a:ext cx="10607040" cy="1828800"/>
          </a:xfrm>
          <a:prstGeom prst="rect">
            <a:avLst/>
          </a:prstGeom>
          <a:noFill/>
        </p:spPr>
        <p:txBody>
          <a:bodyPr wrap="square" lIns="0" rIns="0" tIns="0" bIns="0" anchor="ctr">
            <a:spAutoFit/>
          </a:bodyPr>
          <a:lstStyle/>
          <a:p>
            <a:pPr algn="l">
              <a:spcAft>
                <a:spcPts val="400"/>
              </a:spcAft>
            </a:pPr>
            <a:r>
              <a:rPr sz="1700" b="0" i="0">
                <a:solidFill>
                  <a:srgbClr val="222222"/>
                </a:solidFill>
                <a:latin typeface="Calibri"/>
                <a:ea typeface="Calibri"/>
                <a:cs typeface="Calibri"/>
              </a:rPr>
              <a:t>Given the text of a news item or claim, assign it one of three verdicts - REAL, PARTIALLY TRUE or FAKE - with a confidence, using a computationally light pipeline (TF-IDF and stylometric features reduced by PCA, with the Firefly algorithm choosing the feature subset and the SVM parameters), and report honestly how accurate and how costly it is, through an application that a non-expert can run.</a:t>
            </a:r>
          </a:p>
        </p:txBody>
      </p:sp>
      <p:sp>
        <p:nvSpPr>
          <p:cNvPr id="9" name="Rounded Rectangle 8"/>
          <p:cNvSpPr/>
          <p:nvPr/>
        </p:nvSpPr>
        <p:spPr>
          <a:xfrm>
            <a:off x="502920" y="3977639"/>
            <a:ext cx="3566160" cy="1554480"/>
          </a:xfrm>
          <a:prstGeom prst="roundRect">
            <a:avLst>
              <a:gd name="adj" fmla="val 4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85800" y="4069080"/>
            <a:ext cx="3200400" cy="365760"/>
          </a:xfrm>
          <a:prstGeom prst="rect">
            <a:avLst/>
          </a:prstGeom>
          <a:noFill/>
        </p:spPr>
        <p:txBody>
          <a:bodyPr wrap="square" lIns="0" rIns="0" tIns="0" bIns="0" anchor="t">
            <a:spAutoFit/>
          </a:bodyPr>
          <a:lstStyle/>
          <a:p>
            <a:pPr algn="l">
              <a:spcAft>
                <a:spcPts val="400"/>
              </a:spcAft>
            </a:pPr>
            <a:r>
              <a:rPr sz="1700" b="1" i="0">
                <a:solidFill>
                  <a:srgbClr val="1F3864"/>
                </a:solidFill>
                <a:latin typeface="Calibri"/>
                <a:ea typeface="Calibri"/>
                <a:cs typeface="Calibri"/>
              </a:rPr>
              <a:t>Input</a:t>
            </a:r>
          </a:p>
        </p:txBody>
      </p:sp>
      <p:sp>
        <p:nvSpPr>
          <p:cNvPr id="11" name="TextBox 10"/>
          <p:cNvSpPr txBox="1"/>
          <p:nvPr/>
        </p:nvSpPr>
        <p:spPr>
          <a:xfrm>
            <a:off x="685800" y="4526280"/>
            <a:ext cx="3200400" cy="914400"/>
          </a:xfrm>
          <a:prstGeom prst="rect">
            <a:avLst/>
          </a:prstGeom>
          <a:noFill/>
        </p:spPr>
        <p:txBody>
          <a:bodyPr wrap="square" lIns="0" rIns="0" tIns="0" bIns="0" anchor="t">
            <a:spAutoFit/>
          </a:bodyPr>
          <a:lstStyle/>
          <a:p>
            <a:pPr algn="l">
              <a:spcAft>
                <a:spcPts val="400"/>
              </a:spcAft>
            </a:pPr>
            <a:r>
              <a:rPr sz="1500" b="0" i="0">
                <a:solidFill>
                  <a:srgbClr val="222222"/>
                </a:solidFill>
                <a:latin typeface="Calibri"/>
                <a:ea typeface="Calibri"/>
                <a:cs typeface="Calibri"/>
              </a:rPr>
              <a:t>News headline and text, one item or a CSV of items</a:t>
            </a:r>
          </a:p>
        </p:txBody>
      </p:sp>
      <p:sp>
        <p:nvSpPr>
          <p:cNvPr id="12" name="Rounded Rectangle 11"/>
          <p:cNvSpPr/>
          <p:nvPr/>
        </p:nvSpPr>
        <p:spPr>
          <a:xfrm>
            <a:off x="4251959" y="3977639"/>
            <a:ext cx="3566160" cy="1554480"/>
          </a:xfrm>
          <a:prstGeom prst="roundRect">
            <a:avLst>
              <a:gd name="adj" fmla="val 4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434840" y="4069080"/>
            <a:ext cx="3200400" cy="365760"/>
          </a:xfrm>
          <a:prstGeom prst="rect">
            <a:avLst/>
          </a:prstGeom>
          <a:noFill/>
        </p:spPr>
        <p:txBody>
          <a:bodyPr wrap="square" lIns="0" rIns="0" tIns="0" bIns="0" anchor="t">
            <a:spAutoFit/>
          </a:bodyPr>
          <a:lstStyle/>
          <a:p>
            <a:pPr algn="l">
              <a:spcAft>
                <a:spcPts val="400"/>
              </a:spcAft>
            </a:pPr>
            <a:r>
              <a:rPr sz="1700" b="1" i="0">
                <a:solidFill>
                  <a:srgbClr val="1F3864"/>
                </a:solidFill>
                <a:latin typeface="Calibri"/>
                <a:ea typeface="Calibri"/>
                <a:cs typeface="Calibri"/>
              </a:rPr>
              <a:t>Output</a:t>
            </a:r>
          </a:p>
        </p:txBody>
      </p:sp>
      <p:sp>
        <p:nvSpPr>
          <p:cNvPr id="14" name="TextBox 13"/>
          <p:cNvSpPr txBox="1"/>
          <p:nvPr/>
        </p:nvSpPr>
        <p:spPr>
          <a:xfrm>
            <a:off x="4434840" y="4526280"/>
            <a:ext cx="3200400" cy="914400"/>
          </a:xfrm>
          <a:prstGeom prst="rect">
            <a:avLst/>
          </a:prstGeom>
          <a:noFill/>
        </p:spPr>
        <p:txBody>
          <a:bodyPr wrap="square" lIns="0" rIns="0" tIns="0" bIns="0" anchor="t">
            <a:spAutoFit/>
          </a:bodyPr>
          <a:lstStyle/>
          <a:p>
            <a:pPr algn="l">
              <a:spcAft>
                <a:spcPts val="400"/>
              </a:spcAft>
            </a:pPr>
            <a:r>
              <a:rPr sz="1500" b="0" i="0">
                <a:solidFill>
                  <a:srgbClr val="222222"/>
                </a:solidFill>
                <a:latin typeface="Calibri"/>
                <a:ea typeface="Calibri"/>
                <a:cs typeface="Calibri"/>
              </a:rPr>
              <a:t>REAL / PARTIALLY TRUE / FAKE, confidence, class probabilities, cue words</a:t>
            </a:r>
          </a:p>
        </p:txBody>
      </p:sp>
      <p:sp>
        <p:nvSpPr>
          <p:cNvPr id="15" name="Rounded Rectangle 14"/>
          <p:cNvSpPr/>
          <p:nvPr/>
        </p:nvSpPr>
        <p:spPr>
          <a:xfrm>
            <a:off x="8001000" y="3977639"/>
            <a:ext cx="3566160" cy="1554480"/>
          </a:xfrm>
          <a:prstGeom prst="roundRect">
            <a:avLst>
              <a:gd name="adj" fmla="val 4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8183879" y="4069080"/>
            <a:ext cx="3200400" cy="365760"/>
          </a:xfrm>
          <a:prstGeom prst="rect">
            <a:avLst/>
          </a:prstGeom>
          <a:noFill/>
        </p:spPr>
        <p:txBody>
          <a:bodyPr wrap="square" lIns="0" rIns="0" tIns="0" bIns="0" anchor="t">
            <a:spAutoFit/>
          </a:bodyPr>
          <a:lstStyle/>
          <a:p>
            <a:pPr algn="l">
              <a:spcAft>
                <a:spcPts val="400"/>
              </a:spcAft>
            </a:pPr>
            <a:r>
              <a:rPr sz="1700" b="1" i="0">
                <a:solidFill>
                  <a:srgbClr val="1F3864"/>
                </a:solidFill>
                <a:latin typeface="Calibri"/>
                <a:ea typeface="Calibri"/>
                <a:cs typeface="Calibri"/>
              </a:rPr>
              <a:t>Evidence</a:t>
            </a:r>
          </a:p>
        </p:txBody>
      </p:sp>
      <p:sp>
        <p:nvSpPr>
          <p:cNvPr id="17" name="TextBox 16"/>
          <p:cNvSpPr txBox="1"/>
          <p:nvPr/>
        </p:nvSpPr>
        <p:spPr>
          <a:xfrm>
            <a:off x="8183879" y="4526280"/>
            <a:ext cx="3200400" cy="914400"/>
          </a:xfrm>
          <a:prstGeom prst="rect">
            <a:avLst/>
          </a:prstGeom>
          <a:noFill/>
        </p:spPr>
        <p:txBody>
          <a:bodyPr wrap="square" lIns="0" rIns="0" tIns="0" bIns="0" anchor="t">
            <a:spAutoFit/>
          </a:bodyPr>
          <a:lstStyle/>
          <a:p>
            <a:pPr algn="l">
              <a:spcAft>
                <a:spcPts val="400"/>
              </a:spcAft>
            </a:pPr>
            <a:r>
              <a:rPr sz="1500" b="0" i="0">
                <a:solidFill>
                  <a:srgbClr val="222222"/>
                </a:solidFill>
                <a:latin typeface="Calibri"/>
                <a:ea typeface="Calibri"/>
                <a:cs typeface="Calibri"/>
              </a:rPr>
              <a:t>Held-out metrics, baselines, latency, tests, retraining on new data</a:t>
            </a:r>
          </a:p>
        </p:txBody>
      </p:sp>
      <p:sp>
        <p:nvSpPr>
          <p:cNvPr id="18" name="TextBox 17"/>
          <p:cNvSpPr txBox="1"/>
          <p:nvPr/>
        </p:nvSpPr>
        <p:spPr>
          <a:xfrm>
            <a:off x="502920" y="5623560"/>
            <a:ext cx="11155680" cy="457200"/>
          </a:xfrm>
          <a:prstGeom prst="rect">
            <a:avLst/>
          </a:prstGeom>
          <a:noFill/>
        </p:spPr>
        <p:txBody>
          <a:bodyPr wrap="square" lIns="0" rIns="0" tIns="0" bIns="0" anchor="t">
            <a:spAutoFit/>
          </a:bodyPr>
          <a:lstStyle/>
          <a:p>
            <a:pPr algn="l">
              <a:spcAft>
                <a:spcPts val="400"/>
              </a:spcAft>
            </a:pPr>
            <a:r>
              <a:rPr sz="1300" b="0" i="1">
                <a:solidFill>
                  <a:srgbClr val="1F3864"/>
                </a:solidFill>
                <a:latin typeface="Calibri"/>
                <a:ea typeface="Calibri"/>
                <a:cs typeface="Calibri"/>
              </a:rPr>
              <a:t>Need: an optimised classifier that reduces dimensionality and tunes its own parameters to detect fabricated news accurately and efficiently.</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Objectives</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C6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8</a:t>
            </a:r>
            <a:endParaRPr lang="en-US" sz="1000" dirty="0"/>
          </a:p>
        </p:txBody>
      </p:sp>
      <p:sp>
        <p:nvSpPr>
          <p:cNvPr id="7" name="TextBox 6"/>
          <p:cNvSpPr txBox="1"/>
          <p:nvPr/>
        </p:nvSpPr>
        <p:spPr>
          <a:xfrm>
            <a:off x="502920" y="1783080"/>
            <a:ext cx="11155680" cy="4480560"/>
          </a:xfrm>
          <a:prstGeom prst="rect">
            <a:avLst/>
          </a:prstGeom>
          <a:noFill/>
        </p:spPr>
        <p:txBody>
          <a:bodyPr wrap="square" lIns="0" rIns="0" tIns="0" bIns="0" anchor="t">
            <a:spAutoFit/>
          </a:bodyPr>
          <a:lstStyle/>
          <a:p>
            <a:pPr algn="l">
              <a:spcAft>
                <a:spcPts val="1200"/>
              </a:spcAft>
            </a:pPr>
            <a:r>
              <a:rPr sz="2000" b="0" i="0">
                <a:solidFill>
                  <a:srgbClr val="222222"/>
                </a:solidFill>
                <a:latin typeface="Calibri"/>
                <a:ea typeface="Calibri"/>
                <a:cs typeface="Calibri"/>
              </a:rPr>
              <a:t>1.  Assemble a labelled dataset of genuine and fabricated news articles.</a:t>
            </a:r>
          </a:p>
          <a:p>
            <a:pPr algn="l">
              <a:spcAft>
                <a:spcPts val="1200"/>
              </a:spcAft>
            </a:pPr>
            <a:r>
              <a:rPr sz="2000" b="0" i="0">
                <a:solidFill>
                  <a:srgbClr val="222222"/>
                </a:solidFill>
                <a:latin typeface="Calibri"/>
                <a:ea typeface="Calibri"/>
                <a:cs typeface="Calibri"/>
              </a:rPr>
              <a:t>2.  Preprocess the text with tokenisation, stop-word removal, stemming and vectorisation.</a:t>
            </a:r>
          </a:p>
          <a:p>
            <a:pPr algn="l">
              <a:spcAft>
                <a:spcPts val="1200"/>
              </a:spcAft>
            </a:pPr>
            <a:r>
              <a:rPr sz="2000" b="0" i="0">
                <a:solidFill>
                  <a:srgbClr val="222222"/>
                </a:solidFill>
                <a:latin typeface="Calibri"/>
                <a:ea typeface="Calibri"/>
                <a:cs typeface="Calibri"/>
              </a:rPr>
              <a:t>3.  Apply Principal Component Analysis to reduce feature dimensionality.</a:t>
            </a:r>
          </a:p>
          <a:p>
            <a:pPr algn="l">
              <a:spcAft>
                <a:spcPts val="1200"/>
              </a:spcAft>
            </a:pPr>
            <a:r>
              <a:rPr sz="2000" b="0" i="0">
                <a:solidFill>
                  <a:srgbClr val="222222"/>
                </a:solidFill>
                <a:latin typeface="Calibri"/>
                <a:ea typeface="Calibri"/>
                <a:cs typeface="Calibri"/>
              </a:rPr>
              <a:t>4.  Use the Firefly algorithm to optimise feature selection and MSVM parameters.</a:t>
            </a:r>
          </a:p>
          <a:p>
            <a:pPr algn="l">
              <a:spcAft>
                <a:spcPts val="1200"/>
              </a:spcAft>
            </a:pPr>
            <a:r>
              <a:rPr sz="2000" b="0" i="0">
                <a:solidFill>
                  <a:srgbClr val="222222"/>
                </a:solidFill>
                <a:latin typeface="Calibri"/>
                <a:ea typeface="Calibri"/>
                <a:cs typeface="Calibri"/>
              </a:rPr>
              <a:t>5.  Train a Multi-class Support Vector Machine classifier on the optimised feature set.</a:t>
            </a:r>
          </a:p>
          <a:p>
            <a:pPr algn="l">
              <a:spcAft>
                <a:spcPts val="1200"/>
              </a:spcAft>
            </a:pPr>
            <a:r>
              <a:rPr sz="2000" b="0" i="0">
                <a:solidFill>
                  <a:srgbClr val="222222"/>
                </a:solidFill>
                <a:latin typeface="Calibri"/>
                <a:ea typeface="Calibri"/>
                <a:cs typeface="Calibri"/>
              </a:rPr>
              <a:t>6.  Evaluate accuracy, precision, recall and F1-score against unoptimised baselines.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Proposed System</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C6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9</a:t>
            </a:r>
            <a:endParaRPr lang="en-US" sz="1000" dirty="0"/>
          </a:p>
        </p:txBody>
      </p:sp>
      <p:sp>
        <p:nvSpPr>
          <p:cNvPr id="7" name="Rounded Rectangle 6"/>
          <p:cNvSpPr/>
          <p:nvPr/>
        </p:nvSpPr>
        <p:spPr>
          <a:xfrm>
            <a:off x="502920" y="1828800"/>
            <a:ext cx="1975103" cy="100584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500" b="1">
                <a:solidFill>
                  <a:srgbClr val="FFFFFF"/>
                </a:solidFill>
                <a:latin typeface="Calibri"/>
                <a:ea typeface="Calibri"/>
                <a:cs typeface="Calibri"/>
              </a:rPr>
              <a:t>Text</a:t>
            </a:r>
          </a:p>
        </p:txBody>
      </p:sp>
      <p:sp>
        <p:nvSpPr>
          <p:cNvPr id="8" name="Right Arrow 7"/>
          <p:cNvSpPr/>
          <p:nvPr/>
        </p:nvSpPr>
        <p:spPr>
          <a:xfrm>
            <a:off x="2537460" y="2212848"/>
            <a:ext cx="201168" cy="237744"/>
          </a:xfrm>
          <a:prstGeom prst="right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2798063" y="1828800"/>
            <a:ext cx="1975103" cy="1005840"/>
          </a:xfrm>
          <a:prstGeom prst="roundRect">
            <a:avLst>
              <a:gd name="adj" fmla="val 8000"/>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500" b="1">
                <a:solidFill>
                  <a:srgbClr val="FFFFFF"/>
                </a:solidFill>
                <a:latin typeface="Calibri"/>
                <a:ea typeface="Calibri"/>
                <a:cs typeface="Calibri"/>
              </a:rPr>
              <a:t>TF-IDF + stylometric</a:t>
            </a:r>
          </a:p>
        </p:txBody>
      </p:sp>
      <p:sp>
        <p:nvSpPr>
          <p:cNvPr id="10" name="Right Arrow 9"/>
          <p:cNvSpPr/>
          <p:nvPr/>
        </p:nvSpPr>
        <p:spPr>
          <a:xfrm>
            <a:off x="4832603" y="2212848"/>
            <a:ext cx="201168" cy="237744"/>
          </a:xfrm>
          <a:prstGeom prst="right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5093207" y="1828800"/>
            <a:ext cx="1975103" cy="1005840"/>
          </a:xfrm>
          <a:prstGeom prst="roundRect">
            <a:avLst>
              <a:gd name="adj" fmla="val 8000"/>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500" b="1">
                <a:solidFill>
                  <a:srgbClr val="FFFFFF"/>
                </a:solidFill>
                <a:latin typeface="Calibri"/>
                <a:ea typeface="Calibri"/>
                <a:cs typeface="Calibri"/>
              </a:rPr>
              <a:t>Scaler + PCA</a:t>
            </a:r>
          </a:p>
        </p:txBody>
      </p:sp>
      <p:sp>
        <p:nvSpPr>
          <p:cNvPr id="12" name="Right Arrow 11"/>
          <p:cNvSpPr/>
          <p:nvPr/>
        </p:nvSpPr>
        <p:spPr>
          <a:xfrm>
            <a:off x="7127747" y="2212848"/>
            <a:ext cx="201168" cy="237744"/>
          </a:xfrm>
          <a:prstGeom prst="right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7388352" y="1828800"/>
            <a:ext cx="1975103" cy="1005840"/>
          </a:xfrm>
          <a:prstGeom prst="roundRect">
            <a:avLst>
              <a:gd name="adj" fmla="val 8000"/>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500" b="1">
                <a:solidFill>
                  <a:srgbClr val="FFFFFF"/>
                </a:solidFill>
                <a:latin typeface="Calibri"/>
                <a:ea typeface="Calibri"/>
                <a:cs typeface="Calibri"/>
              </a:rPr>
              <a:t>Firefly search</a:t>
            </a:r>
          </a:p>
        </p:txBody>
      </p:sp>
      <p:sp>
        <p:nvSpPr>
          <p:cNvPr id="14" name="Right Arrow 13"/>
          <p:cNvSpPr/>
          <p:nvPr/>
        </p:nvSpPr>
        <p:spPr>
          <a:xfrm>
            <a:off x="9422892" y="2212848"/>
            <a:ext cx="201168" cy="237744"/>
          </a:xfrm>
          <a:prstGeom prst="right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9683496" y="1828800"/>
            <a:ext cx="1975103" cy="1005840"/>
          </a:xfrm>
          <a:prstGeom prst="roundRect">
            <a:avLst>
              <a:gd name="adj" fmla="val 8000"/>
            </a:avLst>
          </a:prstGeom>
          <a:solidFill>
            <a:srgbClr val="6B52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500" b="1">
                <a:solidFill>
                  <a:srgbClr val="FFFFFF"/>
                </a:solidFill>
                <a:latin typeface="Calibri"/>
                <a:ea typeface="Calibri"/>
                <a:cs typeface="Calibri"/>
              </a:rPr>
              <a:t>RBF MSVM</a:t>
            </a:r>
          </a:p>
        </p:txBody>
      </p:sp>
      <p:sp>
        <p:nvSpPr>
          <p:cNvPr id="16" name="TextBox 15"/>
          <p:cNvSpPr txBox="1"/>
          <p:nvPr/>
        </p:nvSpPr>
        <p:spPr>
          <a:xfrm>
            <a:off x="502920" y="3200400"/>
            <a:ext cx="11155680" cy="3017520"/>
          </a:xfrm>
          <a:prstGeom prst="rect">
            <a:avLst/>
          </a:prstGeom>
          <a:noFill/>
        </p:spPr>
        <p:txBody>
          <a:bodyPr wrap="square" lIns="0" rIns="0" tIns="0" bIns="0" anchor="t">
            <a:spAutoFit/>
          </a:bodyPr>
          <a:lstStyle/>
          <a:p>
            <a:pPr algn="l" marL="256032" indent="-201168">
              <a:spcAft>
                <a:spcPts val="1000"/>
              </a:spcAft>
              <a:buChar char="•"/>
            </a:pPr>
            <a:r>
              <a:rPr sz="1800" b="0" i="0">
                <a:solidFill>
                  <a:srgbClr val="222222"/>
                </a:solidFill>
                <a:latin typeface="Calibri"/>
                <a:ea typeface="Calibri"/>
                <a:cs typeface="Calibri"/>
              </a:rPr>
              <a:t>Clean text, TF-IDF over 1-2 grams (4,000 terms) plus 25 stylometric signals: capitals, exclamation marks, lexicon ratios, length.</a:t>
            </a:r>
          </a:p>
          <a:p>
            <a:pPr algn="l" marL="256032" indent="-201168">
              <a:spcAft>
                <a:spcPts val="1000"/>
              </a:spcAft>
              <a:buChar char="•"/>
            </a:pPr>
            <a:r>
              <a:rPr sz="1800" b="0" i="0">
                <a:solidFill>
                  <a:srgbClr val="222222"/>
                </a:solidFill>
                <a:latin typeface="Calibri"/>
                <a:ea typeface="Calibri"/>
                <a:cs typeface="Calibri"/>
              </a:rPr>
              <a:t>PCA to 95 % variance (capped at 300 components); the Firefly algorithm jointly selects components and tunes C and gamma.</a:t>
            </a:r>
          </a:p>
          <a:p>
            <a:pPr algn="l" marL="256032" indent="-201168">
              <a:spcAft>
                <a:spcPts val="1000"/>
              </a:spcAft>
              <a:buChar char="•"/>
            </a:pPr>
            <a:r>
              <a:rPr sz="1800" b="0" i="0">
                <a:solidFill>
                  <a:srgbClr val="222222"/>
                </a:solidFill>
                <a:latin typeface="Calibri"/>
                <a:ea typeface="Calibri"/>
                <a:cs typeface="Calibri"/>
              </a:rPr>
              <a:t>Multi-class RBF SVM with balanced class weights and an explicit PARTIALLY TRUE class; probabilities from Platt scaling.</a:t>
            </a:r>
          </a:p>
          <a:p>
            <a:pPr algn="l" marL="256032" indent="-201168">
              <a:spcAft>
                <a:spcPts val="400"/>
              </a:spcAft>
              <a:buChar char="•"/>
            </a:pPr>
            <a:r>
              <a:rPr sz="1800" b="0" i="0">
                <a:solidFill>
                  <a:srgbClr val="222222"/>
                </a:solidFill>
                <a:latin typeface="Calibri"/>
                <a:ea typeface="Calibri"/>
                <a:cs typeface="Calibri"/>
              </a:rPr>
              <a:t>FastAPI service over the library; React web app with Detect, Batch check, Analytics, Retrain and About screens.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System Architecture</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C6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10</a:t>
            </a:r>
            <a:endParaRPr lang="en-US" sz="1000" dirty="0"/>
          </a:p>
        </p:txBody>
      </p:sp>
      <p:pic>
        <p:nvPicPr>
          <p:cNvPr id="7" name="Picture 6" descr="01_system_architecture.png"/>
          <p:cNvPicPr>
            <a:picLocks noChangeAspect="1"/>
          </p:cNvPicPr>
          <p:nvPr/>
        </p:nvPicPr>
        <p:blipFill>
          <a:blip r:embed="rId2"/>
          <a:stretch>
            <a:fillRect/>
          </a:stretch>
        </p:blipFill>
        <p:spPr>
          <a:xfrm>
            <a:off x="1289785" y="1691640"/>
            <a:ext cx="6015789" cy="4572000"/>
          </a:xfrm>
          <a:prstGeom prst="rect">
            <a:avLst/>
          </a:prstGeom>
        </p:spPr>
      </p:pic>
      <p:sp>
        <p:nvSpPr>
          <p:cNvPr id="8" name="TextBox 7"/>
          <p:cNvSpPr txBox="1"/>
          <p:nvPr/>
        </p:nvSpPr>
        <p:spPr>
          <a:xfrm>
            <a:off x="8321040" y="1828800"/>
            <a:ext cx="3383280" cy="4297680"/>
          </a:xfrm>
          <a:prstGeom prst="rect">
            <a:avLst/>
          </a:prstGeom>
          <a:noFill/>
        </p:spPr>
        <p:txBody>
          <a:bodyPr wrap="square" lIns="0" rIns="0" tIns="0" bIns="0" anchor="t">
            <a:spAutoFit/>
          </a:bodyPr>
          <a:lstStyle/>
          <a:p>
            <a:pPr algn="l" marL="256032" indent="-201168">
              <a:spcAft>
                <a:spcPts val="800"/>
              </a:spcAft>
              <a:buChar char="•"/>
            </a:pPr>
            <a:r>
              <a:rPr sz="1600" b="0" i="0">
                <a:solidFill>
                  <a:srgbClr val="222222"/>
                </a:solidFill>
                <a:latin typeface="Calibri"/>
                <a:ea typeface="Calibri"/>
                <a:cs typeface="Calibri"/>
              </a:rPr>
              <a:t>Presentation: React app, six screens</a:t>
            </a:r>
          </a:p>
          <a:p>
            <a:pPr algn="l" marL="256032" indent="-201168">
              <a:spcAft>
                <a:spcPts val="800"/>
              </a:spcAft>
              <a:buChar char="•"/>
            </a:pPr>
            <a:r>
              <a:rPr sz="1600" b="0" i="0">
                <a:solidFill>
                  <a:srgbClr val="222222"/>
                </a:solidFill>
                <a:latin typeface="Calibri"/>
                <a:ea typeface="Calibri"/>
                <a:cs typeface="Calibri"/>
              </a:rPr>
              <a:t>Application: FastAPI, 8 endpoints, one model held in memory</a:t>
            </a:r>
          </a:p>
          <a:p>
            <a:pPr algn="l" marL="256032" indent="-201168">
              <a:spcAft>
                <a:spcPts val="800"/>
              </a:spcAft>
              <a:buChar char="•"/>
            </a:pPr>
            <a:r>
              <a:rPr sz="1600" b="0" i="0">
                <a:solidFill>
                  <a:srgbClr val="222222"/>
                </a:solidFill>
                <a:latin typeface="Calibri"/>
                <a:ea typeface="Calibri"/>
                <a:cs typeface="Calibri"/>
              </a:rPr>
              <a:t>Domain: src/ library shared with the CLI and Streamlit app</a:t>
            </a:r>
          </a:p>
          <a:p>
            <a:pPr algn="l" marL="256032" indent="-201168">
              <a:spcAft>
                <a:spcPts val="400"/>
              </a:spcAft>
              <a:buChar char="•"/>
            </a:pPr>
            <a:r>
              <a:rPr sz="1600" b="0" i="0">
                <a:solidFill>
                  <a:srgbClr val="222222"/>
                </a:solidFill>
                <a:latin typeface="Calibri"/>
                <a:ea typeface="Calibri"/>
                <a:cs typeface="Calibri"/>
              </a:rPr>
              <a:t>Storage: one joblib model bundle; no database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Methodology</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C6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11</a:t>
            </a:r>
            <a:endParaRPr lang="en-US" sz="1000" dirty="0"/>
          </a:p>
        </p:txBody>
      </p:sp>
      <p:sp>
        <p:nvSpPr>
          <p:cNvPr id="7" name="Rounded Rectangle 6"/>
          <p:cNvSpPr/>
          <p:nvPr/>
        </p:nvSpPr>
        <p:spPr>
          <a:xfrm>
            <a:off x="502920" y="1783080"/>
            <a:ext cx="1436914" cy="109728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300" b="1">
                <a:solidFill>
                  <a:srgbClr val="FFFFFF"/>
                </a:solidFill>
                <a:latin typeface="Calibri"/>
                <a:ea typeface="Calibri"/>
                <a:cs typeface="Calibri"/>
              </a:rPr>
              <a:t>LIAR2 statements</a:t>
            </a:r>
          </a:p>
        </p:txBody>
      </p:sp>
      <p:sp>
        <p:nvSpPr>
          <p:cNvPr id="8" name="Right Arrow 7"/>
          <p:cNvSpPr/>
          <p:nvPr/>
        </p:nvSpPr>
        <p:spPr>
          <a:xfrm>
            <a:off x="1930690" y="2212848"/>
            <a:ext cx="201168" cy="237744"/>
          </a:xfrm>
          <a:prstGeom prst="right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2122714" y="1783080"/>
            <a:ext cx="1436914" cy="109728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300" b="1">
                <a:solidFill>
                  <a:srgbClr val="FFFFFF"/>
                </a:solidFill>
                <a:latin typeface="Calibri"/>
                <a:ea typeface="Calibri"/>
                <a:cs typeface="Calibri"/>
              </a:rPr>
              <a:t>3-class mapping</a:t>
            </a:r>
          </a:p>
        </p:txBody>
      </p:sp>
      <p:sp>
        <p:nvSpPr>
          <p:cNvPr id="10" name="Right Arrow 9"/>
          <p:cNvSpPr/>
          <p:nvPr/>
        </p:nvSpPr>
        <p:spPr>
          <a:xfrm>
            <a:off x="3550484" y="2212848"/>
            <a:ext cx="201168" cy="237744"/>
          </a:xfrm>
          <a:prstGeom prst="right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3742508" y="1783080"/>
            <a:ext cx="1436914" cy="1097280"/>
          </a:xfrm>
          <a:prstGeom prst="roundRect">
            <a:avLst>
              <a:gd name="adj" fmla="val 8000"/>
            </a:avLst>
          </a:prstGeom>
          <a:solidFill>
            <a:srgbClr val="6B52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300" b="1">
                <a:solidFill>
                  <a:srgbClr val="FFFFFF"/>
                </a:solidFill>
                <a:latin typeface="Calibri"/>
                <a:ea typeface="Calibri"/>
                <a:cs typeface="Calibri"/>
              </a:rPr>
              <a:t>Clean + features</a:t>
            </a:r>
          </a:p>
        </p:txBody>
      </p:sp>
      <p:sp>
        <p:nvSpPr>
          <p:cNvPr id="12" name="Right Arrow 11"/>
          <p:cNvSpPr/>
          <p:nvPr/>
        </p:nvSpPr>
        <p:spPr>
          <a:xfrm>
            <a:off x="5170278" y="2212848"/>
            <a:ext cx="201168" cy="237744"/>
          </a:xfrm>
          <a:prstGeom prst="right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5362302" y="1783080"/>
            <a:ext cx="1436914" cy="1097280"/>
          </a:xfrm>
          <a:prstGeom prst="roundRect">
            <a:avLst>
              <a:gd name="adj" fmla="val 8000"/>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300" b="1">
                <a:solidFill>
                  <a:srgbClr val="FFFFFF"/>
                </a:solidFill>
                <a:latin typeface="Calibri"/>
                <a:ea typeface="Calibri"/>
                <a:cs typeface="Calibri"/>
              </a:rPr>
              <a:t>Scaler + PCA</a:t>
            </a:r>
          </a:p>
        </p:txBody>
      </p:sp>
      <p:sp>
        <p:nvSpPr>
          <p:cNvPr id="14" name="Right Arrow 13"/>
          <p:cNvSpPr/>
          <p:nvPr/>
        </p:nvSpPr>
        <p:spPr>
          <a:xfrm>
            <a:off x="6790073" y="2212848"/>
            <a:ext cx="201168" cy="237744"/>
          </a:xfrm>
          <a:prstGeom prst="right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982097" y="1783080"/>
            <a:ext cx="1436914" cy="1097280"/>
          </a:xfrm>
          <a:prstGeom prst="roundRect">
            <a:avLst>
              <a:gd name="adj" fmla="val 8000"/>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300" b="1">
                <a:solidFill>
                  <a:srgbClr val="FFFFFF"/>
                </a:solidFill>
                <a:latin typeface="Calibri"/>
                <a:ea typeface="Calibri"/>
                <a:cs typeface="Calibri"/>
              </a:rPr>
              <a:t>Firefly search</a:t>
            </a:r>
          </a:p>
        </p:txBody>
      </p:sp>
      <p:sp>
        <p:nvSpPr>
          <p:cNvPr id="16" name="Right Arrow 15"/>
          <p:cNvSpPr/>
          <p:nvPr/>
        </p:nvSpPr>
        <p:spPr>
          <a:xfrm>
            <a:off x="8409867" y="2212848"/>
            <a:ext cx="201168" cy="237744"/>
          </a:xfrm>
          <a:prstGeom prst="right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601891" y="1783080"/>
            <a:ext cx="1436914" cy="1097280"/>
          </a:xfrm>
          <a:prstGeom prst="roundRect">
            <a:avLst>
              <a:gd name="adj" fmla="val 8000"/>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300" b="1">
                <a:solidFill>
                  <a:srgbClr val="FFFFFF"/>
                </a:solidFill>
                <a:latin typeface="Calibri"/>
                <a:ea typeface="Calibri"/>
                <a:cs typeface="Calibri"/>
              </a:rPr>
              <a:t>RBF MSVM</a:t>
            </a:r>
          </a:p>
        </p:txBody>
      </p:sp>
      <p:sp>
        <p:nvSpPr>
          <p:cNvPr id="18" name="Right Arrow 17"/>
          <p:cNvSpPr/>
          <p:nvPr/>
        </p:nvSpPr>
        <p:spPr>
          <a:xfrm>
            <a:off x="10029661" y="2212848"/>
            <a:ext cx="201168" cy="237744"/>
          </a:xfrm>
          <a:prstGeom prst="right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10221685" y="1783080"/>
            <a:ext cx="1436914" cy="109728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300" b="1">
                <a:solidFill>
                  <a:srgbClr val="FFFFFF"/>
                </a:solidFill>
                <a:latin typeface="Calibri"/>
                <a:ea typeface="Calibri"/>
                <a:cs typeface="Calibri"/>
              </a:rPr>
              <a:t>Test once</a:t>
            </a:r>
          </a:p>
        </p:txBody>
      </p:sp>
      <p:sp>
        <p:nvSpPr>
          <p:cNvPr id="20" name="TextBox 19"/>
          <p:cNvSpPr txBox="1"/>
          <p:nvPr/>
        </p:nvSpPr>
        <p:spPr>
          <a:xfrm>
            <a:off x="502920" y="3200400"/>
            <a:ext cx="11155680" cy="3017520"/>
          </a:xfrm>
          <a:prstGeom prst="rect">
            <a:avLst/>
          </a:prstGeom>
          <a:noFill/>
        </p:spPr>
        <p:txBody>
          <a:bodyPr wrap="square" lIns="0" rIns="0" tIns="0" bIns="0" anchor="t">
            <a:spAutoFit/>
          </a:bodyPr>
          <a:lstStyle/>
          <a:p>
            <a:pPr algn="l" marL="256032" indent="-201168">
              <a:spcAft>
                <a:spcPts val="1000"/>
              </a:spcAft>
              <a:buChar char="•"/>
            </a:pPr>
            <a:r>
              <a:rPr sz="1700" b="0" i="0">
                <a:solidFill>
                  <a:srgbClr val="222222"/>
                </a:solidFill>
                <a:latin typeface="Calibri"/>
                <a:ea typeface="Calibri"/>
                <a:cs typeface="Calibri"/>
              </a:rPr>
              <a:t>Real data: LIAR2 (Apache-2.0), PolitiFact statements; true and mostly-true = REAL, half-true = PARTIALLY TRUE, the rest = FAKE.</a:t>
            </a:r>
          </a:p>
          <a:p>
            <a:pPr algn="l" marL="256032" indent="-201168">
              <a:spcAft>
                <a:spcPts val="1000"/>
              </a:spcAft>
              <a:buChar char="•"/>
            </a:pPr>
            <a:r>
              <a:rPr sz="1700" b="0" i="0">
                <a:solidFill>
                  <a:srgbClr val="222222"/>
                </a:solidFill>
                <a:latin typeface="Calibri"/>
                <a:ea typeface="Calibri"/>
                <a:cs typeface="Calibri"/>
              </a:rPr>
              <a:t>3,000 training statements drawn stratified from 18,369 (the Firefly search needs thousands of SVM fits); scored on the official validation and test splits.</a:t>
            </a:r>
          </a:p>
          <a:p>
            <a:pPr algn="l" marL="256032" indent="-201168">
              <a:spcAft>
                <a:spcPts val="1000"/>
              </a:spcAft>
              <a:buChar char="•"/>
            </a:pPr>
            <a:r>
              <a:rPr sz="1700" b="0" i="0">
                <a:solidFill>
                  <a:srgbClr val="222222"/>
                </a:solidFill>
                <a:latin typeface="Calibri"/>
                <a:ea typeface="Calibri"/>
                <a:cs typeface="Calibri"/>
              </a:rPr>
              <a:t>Firefly: 10 fireflies x 12 generations, about 550 fitness evaluations; fitness = 3-fold CV macro-F1 - 0.02 x share of components kept.</a:t>
            </a:r>
          </a:p>
          <a:p>
            <a:pPr algn="l" marL="256032" indent="-201168">
              <a:spcAft>
                <a:spcPts val="400"/>
              </a:spcAft>
              <a:buChar char="•"/>
            </a:pPr>
            <a:r>
              <a:rPr sz="1700" b="0" i="0">
                <a:solidFill>
                  <a:srgbClr val="222222"/>
                </a:solidFill>
                <a:latin typeface="Calibri"/>
                <a:ea typeface="Calibri"/>
                <a:cs typeface="Calibri"/>
              </a:rPr>
              <a:t>Baselines on the same split: PCA + default SVM, Firefly mask only, equal-budget random search, TF-IDF linear models; seeds 7, 42, 2024.</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Dataset, Features &amp; Model</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C6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12</a:t>
            </a:r>
            <a:endParaRPr lang="en-US" sz="1000" dirty="0"/>
          </a:p>
        </p:txBody>
      </p:sp>
      <p:sp>
        <p:nvSpPr>
          <p:cNvPr id="7" name="Rounded Rectangle 6"/>
          <p:cNvSpPr/>
          <p:nvPr/>
        </p:nvSpPr>
        <p:spPr>
          <a:xfrm>
            <a:off x="502920" y="1737360"/>
            <a:ext cx="2651760" cy="1005840"/>
          </a:xfrm>
          <a:prstGeom prst="roundRect">
            <a:avLst>
              <a:gd name="adj" fmla="val 5000"/>
            </a:avLst>
          </a:prstGeom>
          <a:solidFill>
            <a:srgbClr val="DEEA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502920" y="1737360"/>
            <a:ext cx="73152" cy="100584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685800" y="1792224"/>
            <a:ext cx="2377440" cy="553212"/>
          </a:xfrm>
          <a:prstGeom prst="rect">
            <a:avLst/>
          </a:prstGeom>
          <a:noFill/>
        </p:spPr>
        <p:txBody>
          <a:bodyPr wrap="square" lIns="0" rIns="0" tIns="0" bIns="0" anchor="ctr">
            <a:spAutoFit/>
          </a:bodyPr>
          <a:lstStyle/>
          <a:p>
            <a:pPr algn="l">
              <a:spcAft>
                <a:spcPts val="400"/>
              </a:spcAft>
            </a:pPr>
            <a:r>
              <a:rPr sz="2600" b="1" i="0">
                <a:solidFill>
                  <a:srgbClr val="1F3864"/>
                </a:solidFill>
                <a:latin typeface="Calibri"/>
                <a:ea typeface="Calibri"/>
                <a:cs typeface="Calibri"/>
              </a:rPr>
              <a:t>18,369</a:t>
            </a:r>
          </a:p>
        </p:txBody>
      </p:sp>
      <p:sp>
        <p:nvSpPr>
          <p:cNvPr id="10" name="TextBox 9"/>
          <p:cNvSpPr txBox="1"/>
          <p:nvPr/>
        </p:nvSpPr>
        <p:spPr>
          <a:xfrm>
            <a:off x="685800" y="2320747"/>
            <a:ext cx="2377440" cy="402336"/>
          </a:xfrm>
          <a:prstGeom prst="rect">
            <a:avLst/>
          </a:prstGeom>
          <a:noFill/>
        </p:spPr>
        <p:txBody>
          <a:bodyPr wrap="square" lIns="0" rIns="0" tIns="0" bIns="0" anchor="t">
            <a:spAutoFit/>
          </a:bodyPr>
          <a:lstStyle/>
          <a:p>
            <a:pPr algn="l">
              <a:spcAft>
                <a:spcPts val="400"/>
              </a:spcAft>
            </a:pPr>
            <a:r>
              <a:rPr sz="1200" b="0" i="0">
                <a:solidFill>
                  <a:srgbClr val="222222"/>
                </a:solidFill>
                <a:latin typeface="Calibri"/>
                <a:ea typeface="Calibri"/>
                <a:cs typeface="Calibri"/>
              </a:rPr>
              <a:t>LIAR2 train; 2,297 valid; 2,296 test</a:t>
            </a:r>
          </a:p>
        </p:txBody>
      </p:sp>
      <p:sp>
        <p:nvSpPr>
          <p:cNvPr id="11" name="Rounded Rectangle 10"/>
          <p:cNvSpPr/>
          <p:nvPr/>
        </p:nvSpPr>
        <p:spPr>
          <a:xfrm>
            <a:off x="502920" y="2880360"/>
            <a:ext cx="2651760" cy="1005840"/>
          </a:xfrm>
          <a:prstGeom prst="roundRect">
            <a:avLst>
              <a:gd name="adj" fmla="val 5000"/>
            </a:avLst>
          </a:prstGeom>
          <a:solidFill>
            <a:srgbClr val="DEEA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502920" y="2880360"/>
            <a:ext cx="73152" cy="1005840"/>
          </a:xfrm>
          <a:prstGeom prst="rect">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85800" y="2935224"/>
            <a:ext cx="2377440" cy="553212"/>
          </a:xfrm>
          <a:prstGeom prst="rect">
            <a:avLst/>
          </a:prstGeom>
          <a:noFill/>
        </p:spPr>
        <p:txBody>
          <a:bodyPr wrap="square" lIns="0" rIns="0" tIns="0" bIns="0" anchor="ctr">
            <a:spAutoFit/>
          </a:bodyPr>
          <a:lstStyle/>
          <a:p>
            <a:pPr algn="l">
              <a:spcAft>
                <a:spcPts val="400"/>
              </a:spcAft>
            </a:pPr>
            <a:r>
              <a:rPr sz="2600" b="1" i="0">
                <a:solidFill>
                  <a:srgbClr val="1F3864"/>
                </a:solidFill>
                <a:latin typeface="Calibri"/>
                <a:ea typeface="Calibri"/>
                <a:cs typeface="Calibri"/>
              </a:rPr>
              <a:t>4,025</a:t>
            </a:r>
          </a:p>
        </p:txBody>
      </p:sp>
      <p:sp>
        <p:nvSpPr>
          <p:cNvPr id="14" name="TextBox 13"/>
          <p:cNvSpPr txBox="1"/>
          <p:nvPr/>
        </p:nvSpPr>
        <p:spPr>
          <a:xfrm>
            <a:off x="685800" y="3463747"/>
            <a:ext cx="2377440" cy="402336"/>
          </a:xfrm>
          <a:prstGeom prst="rect">
            <a:avLst/>
          </a:prstGeom>
          <a:noFill/>
        </p:spPr>
        <p:txBody>
          <a:bodyPr wrap="square" lIns="0" rIns="0" tIns="0" bIns="0" anchor="t">
            <a:spAutoFit/>
          </a:bodyPr>
          <a:lstStyle/>
          <a:p>
            <a:pPr algn="l">
              <a:spcAft>
                <a:spcPts val="400"/>
              </a:spcAft>
            </a:pPr>
            <a:r>
              <a:rPr sz="1200" b="0" i="0">
                <a:solidFill>
                  <a:srgbClr val="222222"/>
                </a:solidFill>
                <a:latin typeface="Calibri"/>
                <a:ea typeface="Calibri"/>
                <a:cs typeface="Calibri"/>
              </a:rPr>
              <a:t>4,000 TF-IDF + 25 stylometric</a:t>
            </a:r>
          </a:p>
        </p:txBody>
      </p:sp>
      <p:sp>
        <p:nvSpPr>
          <p:cNvPr id="15" name="Rounded Rectangle 14"/>
          <p:cNvSpPr/>
          <p:nvPr/>
        </p:nvSpPr>
        <p:spPr>
          <a:xfrm>
            <a:off x="502920" y="4023360"/>
            <a:ext cx="2651760" cy="1005840"/>
          </a:xfrm>
          <a:prstGeom prst="roundRect">
            <a:avLst>
              <a:gd name="adj" fmla="val 5000"/>
            </a:avLst>
          </a:prstGeom>
          <a:solidFill>
            <a:srgbClr val="DEEA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502920" y="4023360"/>
            <a:ext cx="73152" cy="1005840"/>
          </a:xfrm>
          <a:prstGeom prst="rect">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85800" y="4078224"/>
            <a:ext cx="2377440" cy="553212"/>
          </a:xfrm>
          <a:prstGeom prst="rect">
            <a:avLst/>
          </a:prstGeom>
          <a:noFill/>
        </p:spPr>
        <p:txBody>
          <a:bodyPr wrap="square" lIns="0" rIns="0" tIns="0" bIns="0" anchor="ctr">
            <a:spAutoFit/>
          </a:bodyPr>
          <a:lstStyle/>
          <a:p>
            <a:pPr algn="l">
              <a:spcAft>
                <a:spcPts val="400"/>
              </a:spcAft>
            </a:pPr>
            <a:r>
              <a:rPr sz="2400" b="1" i="0">
                <a:solidFill>
                  <a:srgbClr val="1F3864"/>
                </a:solidFill>
                <a:latin typeface="Calibri"/>
                <a:ea typeface="Calibri"/>
                <a:cs typeface="Calibri"/>
              </a:rPr>
              <a:t>300 → 148</a:t>
            </a:r>
          </a:p>
        </p:txBody>
      </p:sp>
      <p:sp>
        <p:nvSpPr>
          <p:cNvPr id="18" name="TextBox 17"/>
          <p:cNvSpPr txBox="1"/>
          <p:nvPr/>
        </p:nvSpPr>
        <p:spPr>
          <a:xfrm>
            <a:off x="685800" y="4606747"/>
            <a:ext cx="2377440" cy="402336"/>
          </a:xfrm>
          <a:prstGeom prst="rect">
            <a:avLst/>
          </a:prstGeom>
          <a:noFill/>
        </p:spPr>
        <p:txBody>
          <a:bodyPr wrap="square" lIns="0" rIns="0" tIns="0" bIns="0" anchor="t">
            <a:spAutoFit/>
          </a:bodyPr>
          <a:lstStyle/>
          <a:p>
            <a:pPr algn="l">
              <a:spcAft>
                <a:spcPts val="400"/>
              </a:spcAft>
            </a:pPr>
            <a:r>
              <a:rPr sz="1200" b="0" i="0">
                <a:solidFill>
                  <a:srgbClr val="222222"/>
                </a:solidFill>
                <a:latin typeface="Calibri"/>
                <a:ea typeface="Calibri"/>
                <a:cs typeface="Calibri"/>
              </a:rPr>
              <a:t>PCA components → Firefly-selected (29.3% variance)</a:t>
            </a:r>
          </a:p>
        </p:txBody>
      </p:sp>
      <p:pic>
        <p:nvPicPr>
          <p:cNvPr id="19" name="Picture 18" descr="11_feature_pipeline.png"/>
          <p:cNvPicPr>
            <a:picLocks noChangeAspect="1"/>
          </p:cNvPicPr>
          <p:nvPr/>
        </p:nvPicPr>
        <p:blipFill>
          <a:blip r:embed="rId4"/>
          <a:stretch>
            <a:fillRect/>
          </a:stretch>
        </p:blipFill>
        <p:spPr>
          <a:xfrm>
            <a:off x="3546230" y="1691640"/>
            <a:ext cx="7995138" cy="2834640"/>
          </a:xfrm>
          <a:prstGeom prst="rect">
            <a:avLst/>
          </a:prstGeom>
        </p:spPr>
      </p:pic>
      <p:pic>
        <p:nvPicPr>
          <p:cNvPr id="20" name="Picture 19" descr="f08_feature_funnel.png"/>
          <p:cNvPicPr>
            <a:picLocks noChangeAspect="1"/>
          </p:cNvPicPr>
          <p:nvPr/>
        </p:nvPicPr>
        <p:blipFill>
          <a:blip r:embed="rId5"/>
          <a:stretch>
            <a:fillRect/>
          </a:stretch>
        </p:blipFill>
        <p:spPr>
          <a:xfrm>
            <a:off x="3823056" y="4526280"/>
            <a:ext cx="2960927" cy="1783080"/>
          </a:xfrm>
          <a:prstGeom prst="rect">
            <a:avLst/>
          </a:prstGeom>
        </p:spPr>
      </p:pic>
      <p:sp>
        <p:nvSpPr>
          <p:cNvPr id="21" name="TextBox 20"/>
          <p:cNvSpPr txBox="1"/>
          <p:nvPr/>
        </p:nvSpPr>
        <p:spPr>
          <a:xfrm>
            <a:off x="7406640" y="4572000"/>
            <a:ext cx="4297680" cy="1737360"/>
          </a:xfrm>
          <a:prstGeom prst="rect">
            <a:avLst/>
          </a:prstGeom>
          <a:noFill/>
        </p:spPr>
        <p:txBody>
          <a:bodyPr wrap="square" lIns="0" rIns="0" tIns="0" bIns="0" anchor="t">
            <a:spAutoFit/>
          </a:bodyPr>
          <a:lstStyle/>
          <a:p>
            <a:pPr algn="l" marL="256032" indent="-201168">
              <a:spcAft>
                <a:spcPts val="400"/>
              </a:spcAft>
              <a:buChar char="•"/>
            </a:pPr>
            <a:r>
              <a:rPr sz="1300" b="0" i="0">
                <a:solidFill>
                  <a:srgbClr val="222222"/>
                </a:solidFill>
                <a:latin typeface="Calibri"/>
                <a:ea typeface="Calibri"/>
                <a:cs typeface="Calibri"/>
              </a:rPr>
              <a:t>Test classes REAL / PARTIALLY TRUE / FAKE: 602 / 371 / 1323.</a:t>
            </a:r>
          </a:p>
          <a:p>
            <a:pPr algn="l" marL="256032" indent="-201168">
              <a:spcAft>
                <a:spcPts val="400"/>
              </a:spcAft>
              <a:buChar char="•"/>
            </a:pPr>
            <a:r>
              <a:rPr sz="1300" b="0" i="0">
                <a:solidFill>
                  <a:srgbClr val="222222"/>
                </a:solidFill>
                <a:latin typeface="Calibri"/>
                <a:ea typeface="Calibri"/>
                <a:cs typeface="Calibri"/>
              </a:rPr>
              <a:t>The PCA cap of 300 keeps under a third of the variance on real text.</a:t>
            </a:r>
          </a:p>
          <a:p>
            <a:pPr algn="l" marL="256032" indent="-201168">
              <a:spcAft>
                <a:spcPts val="400"/>
              </a:spcAft>
              <a:buChar char="•"/>
            </a:pPr>
            <a:r>
              <a:rPr sz="1300" b="0" i="0">
                <a:solidFill>
                  <a:srgbClr val="222222"/>
                </a:solidFill>
                <a:latin typeface="Calibri"/>
                <a:ea typeface="Calibri"/>
                <a:cs typeface="Calibri"/>
              </a:rPr>
              <a:t>RBF SVM, one-vs-rest shape, balanced class weights.</a:t>
            </a:r>
          </a:p>
        </p:txBody>
      </p:sp>
      <p:sp>
        <p:nvSpPr>
          <p:cNvPr id="22" name="TextBox 21"/>
          <p:cNvSpPr txBox="1"/>
          <p:nvPr/>
        </p:nvSpPr>
        <p:spPr>
          <a:xfrm>
            <a:off x="502920" y="5166360"/>
            <a:ext cx="2743200" cy="1097280"/>
          </a:xfrm>
          <a:prstGeom prst="rect">
            <a:avLst/>
          </a:prstGeom>
          <a:noFill/>
        </p:spPr>
        <p:txBody>
          <a:bodyPr wrap="square" lIns="0" rIns="0" tIns="0" bIns="0" anchor="t">
            <a:spAutoFit/>
          </a:bodyPr>
          <a:lstStyle/>
          <a:p>
            <a:pPr algn="l">
              <a:spcAft>
                <a:spcPts val="400"/>
              </a:spcAft>
            </a:pPr>
            <a:r>
              <a:rPr sz="1100" b="0" i="1">
                <a:solidFill>
                  <a:srgbClr val="1F3864"/>
                </a:solidFill>
                <a:latin typeface="Calibri"/>
                <a:ea typeface="Calibri"/>
                <a:cs typeface="Calibri"/>
              </a:rPr>
              <a:t>Means over three seeds; training subsample of 3,000 statements.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Decision Logic: Firefly Search</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C6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13</a:t>
            </a:r>
            <a:endParaRPr lang="en-US" sz="1000" dirty="0"/>
          </a:p>
        </p:txBody>
      </p:sp>
      <p:pic>
        <p:nvPicPr>
          <p:cNvPr id="7" name="Picture 6" descr="10_core_algorithm_flowchart.png"/>
          <p:cNvPicPr>
            <a:picLocks noChangeAspect="1"/>
          </p:cNvPicPr>
          <p:nvPr/>
        </p:nvPicPr>
        <p:blipFill>
          <a:blip r:embed="rId2"/>
          <a:stretch>
            <a:fillRect/>
          </a:stretch>
        </p:blipFill>
        <p:spPr>
          <a:xfrm>
            <a:off x="589184" y="1645920"/>
            <a:ext cx="4399471" cy="4663440"/>
          </a:xfrm>
          <a:prstGeom prst="rect">
            <a:avLst/>
          </a:prstGeom>
        </p:spPr>
      </p:pic>
      <p:sp>
        <p:nvSpPr>
          <p:cNvPr id="8" name="TextBox 7"/>
          <p:cNvSpPr txBox="1"/>
          <p:nvPr/>
        </p:nvSpPr>
        <p:spPr>
          <a:xfrm>
            <a:off x="5394960" y="1828800"/>
            <a:ext cx="6309360" cy="4389120"/>
          </a:xfrm>
          <a:prstGeom prst="rect">
            <a:avLst/>
          </a:prstGeom>
          <a:noFill/>
        </p:spPr>
        <p:txBody>
          <a:bodyPr wrap="square" lIns="0" rIns="0" tIns="0" bIns="0" anchor="t">
            <a:spAutoFit/>
          </a:bodyPr>
          <a:lstStyle/>
          <a:p>
            <a:pPr algn="l" marL="256032" indent="-201168">
              <a:spcAft>
                <a:spcPts val="1000"/>
              </a:spcAft>
              <a:buChar char="•"/>
            </a:pPr>
            <a:r>
              <a:rPr sz="1700" b="0" i="0">
                <a:solidFill>
                  <a:srgbClr val="222222"/>
                </a:solidFill>
                <a:latin typeface="Calibri"/>
                <a:ea typeface="Calibri"/>
                <a:cs typeface="Calibri"/>
              </a:rPr>
              <a:t>Each firefly is a vector: a mask over the PCA components plus log10 C and log10 gamma.</a:t>
            </a:r>
          </a:p>
          <a:p>
            <a:pPr algn="l" marL="256032" indent="-201168">
              <a:spcAft>
                <a:spcPts val="1000"/>
              </a:spcAft>
              <a:buChar char="•"/>
            </a:pPr>
            <a:r>
              <a:rPr sz="1700" b="0" i="0">
                <a:solidFill>
                  <a:srgbClr val="222222"/>
                </a:solidFill>
                <a:latin typeface="Calibri"/>
                <a:ea typeface="Calibri"/>
                <a:cs typeface="Calibri"/>
              </a:rPr>
              <a:t>Brightness = 3-fold CV macro-F1 minus 0.02 x the share of components kept.</a:t>
            </a:r>
          </a:p>
          <a:p>
            <a:pPr algn="l" marL="256032" indent="-201168">
              <a:spcAft>
                <a:spcPts val="1000"/>
              </a:spcAft>
              <a:buChar char="•"/>
            </a:pPr>
            <a:r>
              <a:rPr sz="1700" b="0" i="0">
                <a:solidFill>
                  <a:srgbClr val="222222"/>
                </a:solidFill>
                <a:latin typeface="Calibri"/>
                <a:ea typeface="Calibri"/>
                <a:cs typeface="Calibri"/>
              </a:rPr>
              <a:t>Dimmer fireflies move towards brighter ones with attractiveness beta0 exp(-gamma r^2); random step alpha decays by 0.97 per generation.</a:t>
            </a:r>
          </a:p>
          <a:p>
            <a:pPr algn="l" marL="256032" indent="-201168">
              <a:spcAft>
                <a:spcPts val="1000"/>
              </a:spcAft>
              <a:buChar char="•"/>
            </a:pPr>
            <a:r>
              <a:rPr sz="1700" b="0" i="0">
                <a:solidFill>
                  <a:srgbClr val="222222"/>
                </a:solidFill>
                <a:latin typeface="Calibri"/>
                <a:ea typeface="Calibri"/>
                <a:cs typeface="Calibri"/>
              </a:rPr>
              <a:t>The best vector gives the final mask, C and gamma; the final SVC is fitted on the masked training data and scored once on the test split.</a:t>
            </a:r>
          </a:p>
          <a:p>
            <a:pPr algn="l" marL="256032" indent="-201168">
              <a:spcAft>
                <a:spcPts val="400"/>
              </a:spcAft>
              <a:buChar char="•"/>
            </a:pPr>
            <a:r>
              <a:rPr sz="1700" b="0" i="0">
                <a:solidFill>
                  <a:srgbClr val="222222"/>
                </a:solidFill>
                <a:latin typeface="Calibri"/>
                <a:ea typeface="Calibri"/>
                <a:cs typeface="Calibri"/>
              </a:rPr>
              <a:t>Verdict = class chosen by the SVC; confidence = highest Platt probability.</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User – System Interaction</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C6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14</a:t>
            </a:r>
            <a:endParaRPr lang="en-US" sz="1000" dirty="0"/>
          </a:p>
        </p:txBody>
      </p:sp>
      <p:pic>
        <p:nvPicPr>
          <p:cNvPr id="7" name="Picture 6" descr="07_sequence_diagram.png"/>
          <p:cNvPicPr>
            <a:picLocks noChangeAspect="1"/>
          </p:cNvPicPr>
          <p:nvPr/>
        </p:nvPicPr>
        <p:blipFill>
          <a:blip r:embed="rId2"/>
          <a:stretch>
            <a:fillRect/>
          </a:stretch>
        </p:blipFill>
        <p:spPr>
          <a:xfrm>
            <a:off x="744582" y="1645920"/>
            <a:ext cx="5551714" cy="4663440"/>
          </a:xfrm>
          <a:prstGeom prst="rect">
            <a:avLst/>
          </a:prstGeom>
        </p:spPr>
      </p:pic>
      <p:pic>
        <p:nvPicPr>
          <p:cNvPr id="8" name="Picture 7" descr="08_use_case_diagram.png"/>
          <p:cNvPicPr>
            <a:picLocks noChangeAspect="1"/>
          </p:cNvPicPr>
          <p:nvPr/>
        </p:nvPicPr>
        <p:blipFill>
          <a:blip r:embed="rId5"/>
          <a:stretch>
            <a:fillRect/>
          </a:stretch>
        </p:blipFill>
        <p:spPr>
          <a:xfrm>
            <a:off x="6766560" y="2274112"/>
            <a:ext cx="4937760" cy="3407054"/>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Data Design (file based)</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C6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15</a:t>
            </a:r>
            <a:endParaRPr lang="en-US" sz="1000" dirty="0"/>
          </a:p>
        </p:txBody>
      </p:sp>
      <p:pic>
        <p:nvPicPr>
          <p:cNvPr id="7" name="Picture 6" descr="09_er_diagram.png"/>
          <p:cNvPicPr>
            <a:picLocks noChangeAspect="1"/>
          </p:cNvPicPr>
          <p:nvPr/>
        </p:nvPicPr>
        <p:blipFill>
          <a:blip r:embed="rId2"/>
          <a:stretch>
            <a:fillRect/>
          </a:stretch>
        </p:blipFill>
        <p:spPr>
          <a:xfrm>
            <a:off x="586047" y="1645920"/>
            <a:ext cx="6234545" cy="4114800"/>
          </a:xfrm>
          <a:prstGeom prst="rect">
            <a:avLst/>
          </a:prstGeom>
        </p:spPr>
      </p:pic>
      <p:graphicFrame>
        <p:nvGraphicFramePr>
          <p:cNvPr id="8" name="Table 7"/>
          <p:cNvGraphicFramePr>
            <a:graphicFrameLocks noGrp="1"/>
          </p:cNvGraphicFramePr>
          <p:nvPr/>
        </p:nvGraphicFramePr>
        <p:xfrm>
          <a:off x="7132320" y="1737360"/>
          <a:ext cx="4572000" cy="3200400"/>
        </p:xfrm>
        <a:graphic>
          <a:graphicData uri="http://schemas.openxmlformats.org/drawingml/2006/table">
            <a:tbl>
              <a:tblPr firstRow="0" bandRow="0">
                <a:tableStyleId>{5C22544A-7EE6-4342-B048-85BDC9FD1C3A}</a:tableStyleId>
              </a:tblPr>
              <a:tblGrid>
                <a:gridCol w="2468880"/>
                <a:gridCol w="2103120"/>
              </a:tblGrid>
              <a:tr h="457200">
                <a:tc>
                  <a:txBody>
                    <a:bodyPr wrap="square"/>
                    <a:lstStyle/>
                    <a:p>
                      <a:pPr algn="ctr"/>
                      <a:r>
                        <a:rPr sz="1100" b="1">
                          <a:solidFill>
                            <a:srgbClr val="1F3864"/>
                          </a:solidFill>
                          <a:latin typeface="Calibri"/>
                          <a:ea typeface="Calibri"/>
                          <a:cs typeface="Calibri"/>
                        </a:rPr>
                        <a:t>Store</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DEEAF6"/>
                    </a:solidFill>
                  </a:tcPr>
                </a:tc>
                <a:tc>
                  <a:txBody>
                    <a:bodyPr wrap="square"/>
                    <a:lstStyle/>
                    <a:p>
                      <a:pPr algn="ctr"/>
                      <a:r>
                        <a:rPr sz="1100" b="1">
                          <a:solidFill>
                            <a:srgbClr val="1F3864"/>
                          </a:solidFill>
                          <a:latin typeface="Calibri"/>
                          <a:ea typeface="Calibri"/>
                          <a:cs typeface="Calibri"/>
                        </a:rPr>
                        <a:t>Content</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DEEAF6"/>
                    </a:solidFill>
                  </a:tcPr>
                </a:tc>
              </a:tr>
              <a:tr h="457200">
                <a:tc>
                  <a:txBody>
                    <a:bodyPr wrap="square"/>
                    <a:lstStyle/>
                    <a:p>
                      <a:pPr algn="l"/>
                      <a:r>
                        <a:rPr sz="1100" b="1">
                          <a:solidFill>
                            <a:srgbClr val="222222"/>
                          </a:solidFill>
                          <a:latin typeface="Calibri"/>
                          <a:ea typeface="Calibri"/>
                          <a:cs typeface="Calibri"/>
                        </a:rPr>
                        <a:t>models/msvm_model.pkl</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100" b="0">
                          <a:solidFill>
                            <a:srgbClr val="222222"/>
                          </a:solidFill>
                          <a:latin typeface="Calibri"/>
                          <a:ea typeface="Calibri"/>
                          <a:cs typeface="Calibri"/>
                        </a:rPr>
                        <a:t>shipped demo model bundle</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r>
              <a:tr h="457200">
                <a:tc>
                  <a:txBody>
                    <a:bodyPr wrap="square"/>
                    <a:lstStyle/>
                    <a:p>
                      <a:pPr algn="l"/>
                      <a:r>
                        <a:rPr sz="1100" b="1">
                          <a:solidFill>
                            <a:srgbClr val="222222"/>
                          </a:solidFill>
                          <a:latin typeface="Calibri"/>
                          <a:ea typeface="Calibri"/>
                          <a:cs typeface="Calibri"/>
                        </a:rPr>
                        <a:t>models/liar2_msvm_model.pkl</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l"/>
                      <a:r>
                        <a:rPr sz="1100" b="0">
                          <a:solidFill>
                            <a:srgbClr val="222222"/>
                          </a:solidFill>
                          <a:latin typeface="Calibri"/>
                          <a:ea typeface="Calibri"/>
                          <a:cs typeface="Calibri"/>
                        </a:rPr>
                        <a:t>model trained on LIAR2 (seed 42)</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r>
              <a:tr h="457200">
                <a:tc>
                  <a:txBody>
                    <a:bodyPr wrap="square"/>
                    <a:lstStyle/>
                    <a:p>
                      <a:pPr algn="l"/>
                      <a:r>
                        <a:rPr sz="1100" b="1">
                          <a:solidFill>
                            <a:srgbClr val="222222"/>
                          </a:solidFill>
                          <a:latin typeface="Calibri"/>
                          <a:ea typeface="Calibri"/>
                          <a:cs typeface="Calibri"/>
                        </a:rPr>
                        <a:t>models/metrics.json</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100" b="0">
                          <a:solidFill>
                            <a:srgbClr val="222222"/>
                          </a:solidFill>
                          <a:latin typeface="Calibri"/>
                          <a:ea typeface="Calibri"/>
                          <a:cs typeface="Calibri"/>
                        </a:rPr>
                        <a:t>demo model statistics</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r>
              <a:tr h="457200">
                <a:tc>
                  <a:txBody>
                    <a:bodyPr wrap="square"/>
                    <a:lstStyle/>
                    <a:p>
                      <a:pPr algn="l"/>
                      <a:r>
                        <a:rPr sz="1100" b="1">
                          <a:solidFill>
                            <a:srgbClr val="222222"/>
                          </a:solidFill>
                          <a:latin typeface="Calibri"/>
                          <a:ea typeface="Calibri"/>
                          <a:cs typeface="Calibri"/>
                        </a:rPr>
                        <a:t>experiments/liar2/</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l"/>
                      <a:r>
                        <a:rPr sz="1100" b="0">
                          <a:solidFill>
                            <a:srgbClr val="222222"/>
                          </a:solidFill>
                          <a:latin typeface="Calibri"/>
                          <a:ea typeface="Calibri"/>
                          <a:cs typeface="Calibri"/>
                        </a:rPr>
                        <a:t>seed runs, predictions, latency</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r>
              <a:tr h="457200">
                <a:tc>
                  <a:txBody>
                    <a:bodyPr wrap="square"/>
                    <a:lstStyle/>
                    <a:p>
                      <a:pPr algn="l"/>
                      <a:r>
                        <a:rPr sz="1100" b="1">
                          <a:solidFill>
                            <a:srgbClr val="222222"/>
                          </a:solidFill>
                          <a:latin typeface="Calibri"/>
                          <a:ea typeface="Calibri"/>
                          <a:cs typeface="Calibri"/>
                        </a:rPr>
                        <a:t>uploaded CSV</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100" b="0">
                          <a:solidFill>
                            <a:srgbClr val="222222"/>
                          </a:solidFill>
                          <a:latin typeface="Calibri"/>
                          <a:ea typeface="Calibri"/>
                          <a:cs typeface="Calibri"/>
                        </a:rPr>
                        <a:t>temp file, deleted after use</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r>
              <a:tr h="457200">
                <a:tc>
                  <a:txBody>
                    <a:bodyPr wrap="square"/>
                    <a:lstStyle/>
                    <a:p>
                      <a:pPr algn="l"/>
                      <a:r>
                        <a:rPr sz="1100" b="1">
                          <a:solidFill>
                            <a:srgbClr val="222222"/>
                          </a:solidFill>
                          <a:latin typeface="Calibri"/>
                          <a:ea typeface="Calibri"/>
                          <a:cs typeface="Calibri"/>
                        </a:rPr>
                        <a:t>memory: job table</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l"/>
                      <a:r>
                        <a:rPr sz="1100" b="0">
                          <a:solidFill>
                            <a:srgbClr val="222222"/>
                          </a:solidFill>
                          <a:latin typeface="Calibri"/>
                          <a:ea typeface="Calibri"/>
                          <a:cs typeface="Calibri"/>
                        </a:rPr>
                        <a:t>retrain status</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r>
            </a:tbl>
          </a:graphicData>
        </a:graphic>
      </p:graphicFrame>
      <p:sp>
        <p:nvSpPr>
          <p:cNvPr id="9" name="TextBox 8"/>
          <p:cNvSpPr txBox="1"/>
          <p:nvPr/>
        </p:nvSpPr>
        <p:spPr>
          <a:xfrm>
            <a:off x="502920" y="5806440"/>
            <a:ext cx="11155680" cy="457200"/>
          </a:xfrm>
          <a:prstGeom prst="rect">
            <a:avLst/>
          </a:prstGeom>
          <a:noFill/>
        </p:spPr>
        <p:txBody>
          <a:bodyPr wrap="square" lIns="0" rIns="0" tIns="0" bIns="0" anchor="t">
            <a:spAutoFit/>
          </a:bodyPr>
          <a:lstStyle/>
          <a:p>
            <a:pPr algn="l">
              <a:spcAft>
                <a:spcPts val="400"/>
              </a:spcAft>
            </a:pPr>
            <a:r>
              <a:rPr sz="1300" b="0" i="1">
                <a:solidFill>
                  <a:srgbClr val="1F3864"/>
                </a:solidFill>
                <a:latin typeface="Calibri"/>
                <a:ea typeface="Calibri"/>
                <a:cs typeface="Calibri"/>
              </a:rPr>
              <a:t>There is no SQL database: the diagram models the file and in-memory entities. Predictions are not stored.</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Implementation Highlights</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C6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16</a:t>
            </a:r>
            <a:endParaRPr lang="en-US" sz="1000" dirty="0"/>
          </a:p>
        </p:txBody>
      </p:sp>
      <p:sp>
        <p:nvSpPr>
          <p:cNvPr id="7" name="Rounded Rectangle 6"/>
          <p:cNvSpPr/>
          <p:nvPr/>
        </p:nvSpPr>
        <p:spPr>
          <a:xfrm>
            <a:off x="502920" y="1737360"/>
            <a:ext cx="2651760" cy="1005840"/>
          </a:xfrm>
          <a:prstGeom prst="roundRect">
            <a:avLst>
              <a:gd name="adj" fmla="val 5000"/>
            </a:avLst>
          </a:prstGeom>
          <a:solidFill>
            <a:srgbClr val="DEEA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502920" y="1737360"/>
            <a:ext cx="73152" cy="100584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685800" y="1792224"/>
            <a:ext cx="2377440" cy="553212"/>
          </a:xfrm>
          <a:prstGeom prst="rect">
            <a:avLst/>
          </a:prstGeom>
          <a:noFill/>
        </p:spPr>
        <p:txBody>
          <a:bodyPr wrap="square" lIns="0" rIns="0" tIns="0" bIns="0" anchor="ctr">
            <a:spAutoFit/>
          </a:bodyPr>
          <a:lstStyle/>
          <a:p>
            <a:pPr algn="l">
              <a:spcAft>
                <a:spcPts val="400"/>
              </a:spcAft>
            </a:pPr>
            <a:r>
              <a:rPr sz="2800" b="1" i="0">
                <a:solidFill>
                  <a:srgbClr val="1F3864"/>
                </a:solidFill>
                <a:latin typeface="Calibri"/>
                <a:ea typeface="Calibri"/>
                <a:cs typeface="Calibri"/>
              </a:rPr>
              <a:t>8</a:t>
            </a:r>
          </a:p>
        </p:txBody>
      </p:sp>
      <p:sp>
        <p:nvSpPr>
          <p:cNvPr id="10" name="TextBox 9"/>
          <p:cNvSpPr txBox="1"/>
          <p:nvPr/>
        </p:nvSpPr>
        <p:spPr>
          <a:xfrm>
            <a:off x="685800" y="2320747"/>
            <a:ext cx="2377440" cy="402336"/>
          </a:xfrm>
          <a:prstGeom prst="rect">
            <a:avLst/>
          </a:prstGeom>
          <a:noFill/>
        </p:spPr>
        <p:txBody>
          <a:bodyPr wrap="square" lIns="0" rIns="0" tIns="0" bIns="0" anchor="t">
            <a:spAutoFit/>
          </a:bodyPr>
          <a:lstStyle/>
          <a:p>
            <a:pPr algn="l">
              <a:spcAft>
                <a:spcPts val="400"/>
              </a:spcAft>
            </a:pPr>
            <a:r>
              <a:rPr sz="1200" b="0" i="0">
                <a:solidFill>
                  <a:srgbClr val="222222"/>
                </a:solidFill>
                <a:latin typeface="Calibri"/>
                <a:ea typeface="Calibri"/>
                <a:cs typeface="Calibri"/>
              </a:rPr>
              <a:t>REST endpoints (+ /docs)</a:t>
            </a:r>
          </a:p>
        </p:txBody>
      </p:sp>
      <p:sp>
        <p:nvSpPr>
          <p:cNvPr id="11" name="Rounded Rectangle 10"/>
          <p:cNvSpPr/>
          <p:nvPr/>
        </p:nvSpPr>
        <p:spPr>
          <a:xfrm>
            <a:off x="3337560" y="1737360"/>
            <a:ext cx="2651760" cy="1005840"/>
          </a:xfrm>
          <a:prstGeom prst="roundRect">
            <a:avLst>
              <a:gd name="adj" fmla="val 5000"/>
            </a:avLst>
          </a:prstGeom>
          <a:solidFill>
            <a:srgbClr val="DEEA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337560" y="1737360"/>
            <a:ext cx="73152" cy="1005840"/>
          </a:xfrm>
          <a:prstGeom prst="rect">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3520440" y="1792224"/>
            <a:ext cx="2377440" cy="553212"/>
          </a:xfrm>
          <a:prstGeom prst="rect">
            <a:avLst/>
          </a:prstGeom>
          <a:noFill/>
        </p:spPr>
        <p:txBody>
          <a:bodyPr wrap="square" lIns="0" rIns="0" tIns="0" bIns="0" anchor="ctr">
            <a:spAutoFit/>
          </a:bodyPr>
          <a:lstStyle/>
          <a:p>
            <a:pPr algn="l">
              <a:spcAft>
                <a:spcPts val="400"/>
              </a:spcAft>
            </a:pPr>
            <a:r>
              <a:rPr sz="2800" b="1" i="0">
                <a:solidFill>
                  <a:srgbClr val="1F3864"/>
                </a:solidFill>
                <a:latin typeface="Calibri"/>
                <a:ea typeface="Calibri"/>
                <a:cs typeface="Calibri"/>
              </a:rPr>
              <a:t>83</a:t>
            </a:r>
          </a:p>
        </p:txBody>
      </p:sp>
      <p:sp>
        <p:nvSpPr>
          <p:cNvPr id="14" name="TextBox 13"/>
          <p:cNvSpPr txBox="1"/>
          <p:nvPr/>
        </p:nvSpPr>
        <p:spPr>
          <a:xfrm>
            <a:off x="3520440" y="2320747"/>
            <a:ext cx="2377440" cy="402336"/>
          </a:xfrm>
          <a:prstGeom prst="rect">
            <a:avLst/>
          </a:prstGeom>
          <a:noFill/>
        </p:spPr>
        <p:txBody>
          <a:bodyPr wrap="square" lIns="0" rIns="0" tIns="0" bIns="0" anchor="t">
            <a:spAutoFit/>
          </a:bodyPr>
          <a:lstStyle/>
          <a:p>
            <a:pPr algn="l">
              <a:spcAft>
                <a:spcPts val="400"/>
              </a:spcAft>
            </a:pPr>
            <a:r>
              <a:rPr sz="1200" b="0" i="0">
                <a:solidFill>
                  <a:srgbClr val="222222"/>
                </a:solidFill>
                <a:latin typeface="Calibri"/>
                <a:ea typeface="Calibri"/>
                <a:cs typeface="Calibri"/>
              </a:rPr>
              <a:t>automated checks</a:t>
            </a:r>
          </a:p>
        </p:txBody>
      </p:sp>
      <p:sp>
        <p:nvSpPr>
          <p:cNvPr id="15" name="Rounded Rectangle 14"/>
          <p:cNvSpPr/>
          <p:nvPr/>
        </p:nvSpPr>
        <p:spPr>
          <a:xfrm>
            <a:off x="6172200" y="1737360"/>
            <a:ext cx="2651760" cy="1005840"/>
          </a:xfrm>
          <a:prstGeom prst="roundRect">
            <a:avLst>
              <a:gd name="adj" fmla="val 5000"/>
            </a:avLst>
          </a:prstGeom>
          <a:solidFill>
            <a:srgbClr val="DEEA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6172200" y="1737360"/>
            <a:ext cx="73152" cy="1005840"/>
          </a:xfrm>
          <a:prstGeom prst="rect">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355080" y="1792224"/>
            <a:ext cx="2377440" cy="553212"/>
          </a:xfrm>
          <a:prstGeom prst="rect">
            <a:avLst/>
          </a:prstGeom>
          <a:noFill/>
        </p:spPr>
        <p:txBody>
          <a:bodyPr wrap="square" lIns="0" rIns="0" tIns="0" bIns="0" anchor="ctr">
            <a:spAutoFit/>
          </a:bodyPr>
          <a:lstStyle/>
          <a:p>
            <a:pPr algn="l">
              <a:spcAft>
                <a:spcPts val="400"/>
              </a:spcAft>
            </a:pPr>
            <a:r>
              <a:rPr sz="2800" b="1" i="0">
                <a:solidFill>
                  <a:srgbClr val="1F3864"/>
                </a:solidFill>
                <a:latin typeface="Calibri"/>
                <a:ea typeface="Calibri"/>
                <a:cs typeface="Calibri"/>
              </a:rPr>
              <a:t>6</a:t>
            </a:r>
          </a:p>
        </p:txBody>
      </p:sp>
      <p:sp>
        <p:nvSpPr>
          <p:cNvPr id="18" name="TextBox 17"/>
          <p:cNvSpPr txBox="1"/>
          <p:nvPr/>
        </p:nvSpPr>
        <p:spPr>
          <a:xfrm>
            <a:off x="6355080" y="2320747"/>
            <a:ext cx="2377440" cy="402336"/>
          </a:xfrm>
          <a:prstGeom prst="rect">
            <a:avLst/>
          </a:prstGeom>
          <a:noFill/>
        </p:spPr>
        <p:txBody>
          <a:bodyPr wrap="square" lIns="0" rIns="0" tIns="0" bIns="0" anchor="t">
            <a:spAutoFit/>
          </a:bodyPr>
          <a:lstStyle/>
          <a:p>
            <a:pPr algn="l">
              <a:spcAft>
                <a:spcPts val="400"/>
              </a:spcAft>
            </a:pPr>
            <a:r>
              <a:rPr sz="1200" b="0" i="0">
                <a:solidFill>
                  <a:srgbClr val="222222"/>
                </a:solidFill>
                <a:latin typeface="Calibri"/>
                <a:ea typeface="Calibri"/>
                <a:cs typeface="Calibri"/>
              </a:rPr>
              <a:t>React screens</a:t>
            </a:r>
          </a:p>
        </p:txBody>
      </p:sp>
      <p:sp>
        <p:nvSpPr>
          <p:cNvPr id="19" name="Rounded Rectangle 18"/>
          <p:cNvSpPr/>
          <p:nvPr/>
        </p:nvSpPr>
        <p:spPr>
          <a:xfrm>
            <a:off x="9006840" y="1737360"/>
            <a:ext cx="2651760" cy="1005840"/>
          </a:xfrm>
          <a:prstGeom prst="roundRect">
            <a:avLst>
              <a:gd name="adj" fmla="val 5000"/>
            </a:avLst>
          </a:prstGeom>
          <a:solidFill>
            <a:srgbClr val="DEEA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9006840" y="1737360"/>
            <a:ext cx="73152" cy="1005840"/>
          </a:xfrm>
          <a:prstGeom prst="rect">
            <a:avLst/>
          </a:prstGeom>
          <a:solidFill>
            <a:srgbClr val="6B52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9189720" y="1792224"/>
            <a:ext cx="2377440" cy="553212"/>
          </a:xfrm>
          <a:prstGeom prst="rect">
            <a:avLst/>
          </a:prstGeom>
          <a:noFill/>
        </p:spPr>
        <p:txBody>
          <a:bodyPr wrap="square" lIns="0" rIns="0" tIns="0" bIns="0" anchor="ctr">
            <a:spAutoFit/>
          </a:bodyPr>
          <a:lstStyle/>
          <a:p>
            <a:pPr algn="l">
              <a:spcAft>
                <a:spcPts val="400"/>
              </a:spcAft>
            </a:pPr>
            <a:r>
              <a:rPr sz="2800" b="1" i="0">
                <a:solidFill>
                  <a:srgbClr val="1F3864"/>
                </a:solidFill>
                <a:latin typeface="Calibri"/>
                <a:ea typeface="Calibri"/>
                <a:cs typeface="Calibri"/>
              </a:rPr>
              <a:t>1</a:t>
            </a:r>
          </a:p>
        </p:txBody>
      </p:sp>
      <p:sp>
        <p:nvSpPr>
          <p:cNvPr id="22" name="TextBox 21"/>
          <p:cNvSpPr txBox="1"/>
          <p:nvPr/>
        </p:nvSpPr>
        <p:spPr>
          <a:xfrm>
            <a:off x="9189720" y="2320747"/>
            <a:ext cx="2377440" cy="402336"/>
          </a:xfrm>
          <a:prstGeom prst="rect">
            <a:avLst/>
          </a:prstGeom>
          <a:noFill/>
        </p:spPr>
        <p:txBody>
          <a:bodyPr wrap="square" lIns="0" rIns="0" tIns="0" bIns="0" anchor="t">
            <a:spAutoFit/>
          </a:bodyPr>
          <a:lstStyle/>
          <a:p>
            <a:pPr algn="l">
              <a:spcAft>
                <a:spcPts val="400"/>
              </a:spcAft>
            </a:pPr>
            <a:r>
              <a:rPr sz="1200" b="0" i="0">
                <a:solidFill>
                  <a:srgbClr val="222222"/>
                </a:solidFill>
                <a:latin typeface="Calibri"/>
                <a:ea typeface="Calibri"/>
                <a:cs typeface="Calibri"/>
              </a:rPr>
              <a:t>command to start (run.bat)</a:t>
            </a:r>
          </a:p>
        </p:txBody>
      </p:sp>
      <p:sp>
        <p:nvSpPr>
          <p:cNvPr id="23" name="TextBox 22"/>
          <p:cNvSpPr txBox="1"/>
          <p:nvPr/>
        </p:nvSpPr>
        <p:spPr>
          <a:xfrm>
            <a:off x="502920" y="3017520"/>
            <a:ext cx="11155680" cy="3200400"/>
          </a:xfrm>
          <a:prstGeom prst="rect">
            <a:avLst/>
          </a:prstGeom>
          <a:noFill/>
        </p:spPr>
        <p:txBody>
          <a:bodyPr wrap="square" lIns="0" rIns="0" tIns="0" bIns="0" anchor="t">
            <a:spAutoFit/>
          </a:bodyPr>
          <a:lstStyle/>
          <a:p>
            <a:pPr algn="l" marL="256032" indent="-201168">
              <a:spcAft>
                <a:spcPts val="900"/>
              </a:spcAft>
              <a:buChar char="•"/>
            </a:pPr>
            <a:r>
              <a:rPr sz="1700" b="0" i="0">
                <a:solidFill>
                  <a:srgbClr val="222222"/>
                </a:solidFill>
                <a:latin typeface="Calibri"/>
                <a:ea typeface="Calibri"/>
                <a:cs typeface="Calibri"/>
              </a:rPr>
              <a:t>The existing library is reused unchanged: the API calls the same fit and predict functions as the CLI and Streamlit app.</a:t>
            </a:r>
          </a:p>
          <a:p>
            <a:pPr algn="l" marL="256032" indent="-201168">
              <a:spcAft>
                <a:spcPts val="900"/>
              </a:spcAft>
              <a:buChar char="•"/>
            </a:pPr>
            <a:r>
              <a:rPr sz="1700" b="0" i="0">
                <a:solidFill>
                  <a:srgbClr val="222222"/>
                </a:solidFill>
                <a:latin typeface="Calibri"/>
                <a:ea typeface="Calibri"/>
                <a:cs typeface="Calibri"/>
              </a:rPr>
              <a:t>Validation: at least 5 words per article; CSV only, at most 20,000 rows and 25 MB; retrain limits (4-20 fireflies, 3-30 generations, 1,000-8,000 terms); one retrain at a time (409).</a:t>
            </a:r>
          </a:p>
          <a:p>
            <a:pPr algn="l" marL="256032" indent="-201168">
              <a:spcAft>
                <a:spcPts val="900"/>
              </a:spcAft>
              <a:buChar char="•"/>
            </a:pPr>
            <a:r>
              <a:rPr sz="1700" b="0" i="0">
                <a:solidFill>
                  <a:srgbClr val="222222"/>
                </a:solidFill>
                <a:latin typeface="Calibri"/>
                <a:ea typeface="Calibri"/>
                <a:cs typeface="Calibri"/>
              </a:rPr>
              <a:t>Retraining runs in a background thread; the new model is saved to a temporary file, swapped in atomically and used without a restart.</a:t>
            </a:r>
          </a:p>
          <a:p>
            <a:pPr algn="l" marL="256032" indent="-201168">
              <a:spcAft>
                <a:spcPts val="400"/>
              </a:spcAft>
              <a:buChar char="•"/>
            </a:pPr>
            <a:r>
              <a:rPr sz="1700" b="0" i="0">
                <a:solidFill>
                  <a:srgbClr val="222222"/>
                </a:solidFill>
                <a:latin typeface="Calibri"/>
                <a:ea typeface="Calibri"/>
                <a:cs typeface="Calibri"/>
              </a:rPr>
              <a:t>Each result shows verdict, confidence, class probabilities and the sensational or credibility cue words found.</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Results – Model Performance (LIAR2 test split)</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C6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17</a:t>
            </a:r>
            <a:endParaRPr lang="en-US" sz="1000" dirty="0"/>
          </a:p>
        </p:txBody>
      </p:sp>
      <p:sp>
        <p:nvSpPr>
          <p:cNvPr id="7" name="Rounded Rectangle 6"/>
          <p:cNvSpPr/>
          <p:nvPr/>
        </p:nvSpPr>
        <p:spPr>
          <a:xfrm>
            <a:off x="502920" y="1691640"/>
            <a:ext cx="2651760" cy="1005840"/>
          </a:xfrm>
          <a:prstGeom prst="roundRect">
            <a:avLst>
              <a:gd name="adj" fmla="val 5000"/>
            </a:avLst>
          </a:prstGeom>
          <a:solidFill>
            <a:srgbClr val="DEEA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502920" y="1691640"/>
            <a:ext cx="73152" cy="100584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685800" y="1746504"/>
            <a:ext cx="2377440" cy="553212"/>
          </a:xfrm>
          <a:prstGeom prst="rect">
            <a:avLst/>
          </a:prstGeom>
          <a:noFill/>
        </p:spPr>
        <p:txBody>
          <a:bodyPr wrap="square" lIns="0" rIns="0" tIns="0" bIns="0" anchor="ctr">
            <a:spAutoFit/>
          </a:bodyPr>
          <a:lstStyle/>
          <a:p>
            <a:pPr algn="l">
              <a:spcAft>
                <a:spcPts val="400"/>
              </a:spcAft>
            </a:pPr>
            <a:r>
              <a:rPr sz="2600" b="1" i="0">
                <a:solidFill>
                  <a:srgbClr val="1F3864"/>
                </a:solidFill>
                <a:latin typeface="Calibri"/>
                <a:ea typeface="Calibri"/>
                <a:cs typeface="Calibri"/>
              </a:rPr>
              <a:t>0.429</a:t>
            </a:r>
          </a:p>
        </p:txBody>
      </p:sp>
      <p:sp>
        <p:nvSpPr>
          <p:cNvPr id="10" name="TextBox 9"/>
          <p:cNvSpPr txBox="1"/>
          <p:nvPr/>
        </p:nvSpPr>
        <p:spPr>
          <a:xfrm>
            <a:off x="685800" y="2275027"/>
            <a:ext cx="2377440" cy="402336"/>
          </a:xfrm>
          <a:prstGeom prst="rect">
            <a:avLst/>
          </a:prstGeom>
          <a:noFill/>
        </p:spPr>
        <p:txBody>
          <a:bodyPr wrap="square" lIns="0" rIns="0" tIns="0" bIns="0" anchor="t">
            <a:spAutoFit/>
          </a:bodyPr>
          <a:lstStyle/>
          <a:p>
            <a:pPr algn="l">
              <a:spcAft>
                <a:spcPts val="400"/>
              </a:spcAft>
            </a:pPr>
            <a:r>
              <a:rPr sz="1200" b="0" i="0">
                <a:solidFill>
                  <a:srgbClr val="222222"/>
                </a:solidFill>
                <a:latin typeface="Calibri"/>
                <a:ea typeface="Calibri"/>
                <a:cs typeface="Calibri"/>
              </a:rPr>
              <a:t>macro-F1, ± 0.010 over 3 seeds</a:t>
            </a:r>
          </a:p>
        </p:txBody>
      </p:sp>
      <p:sp>
        <p:nvSpPr>
          <p:cNvPr id="11" name="Rounded Rectangle 10"/>
          <p:cNvSpPr/>
          <p:nvPr/>
        </p:nvSpPr>
        <p:spPr>
          <a:xfrm>
            <a:off x="3337560" y="1691640"/>
            <a:ext cx="2651760" cy="1005840"/>
          </a:xfrm>
          <a:prstGeom prst="roundRect">
            <a:avLst>
              <a:gd name="adj" fmla="val 5000"/>
            </a:avLst>
          </a:prstGeom>
          <a:solidFill>
            <a:srgbClr val="DEEA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337560" y="1691640"/>
            <a:ext cx="73152" cy="1005840"/>
          </a:xfrm>
          <a:prstGeom prst="rect">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3520440" y="1746504"/>
            <a:ext cx="2377440" cy="553212"/>
          </a:xfrm>
          <a:prstGeom prst="rect">
            <a:avLst/>
          </a:prstGeom>
          <a:noFill/>
        </p:spPr>
        <p:txBody>
          <a:bodyPr wrap="square" lIns="0" rIns="0" tIns="0" bIns="0" anchor="ctr">
            <a:spAutoFit/>
          </a:bodyPr>
          <a:lstStyle/>
          <a:p>
            <a:pPr algn="l">
              <a:spcAft>
                <a:spcPts val="400"/>
              </a:spcAft>
            </a:pPr>
            <a:r>
              <a:rPr sz="2600" b="1" i="0">
                <a:solidFill>
                  <a:srgbClr val="1F3864"/>
                </a:solidFill>
                <a:latin typeface="Calibri"/>
                <a:ea typeface="Calibri"/>
                <a:cs typeface="Calibri"/>
              </a:rPr>
              <a:t>0.494</a:t>
            </a:r>
          </a:p>
        </p:txBody>
      </p:sp>
      <p:sp>
        <p:nvSpPr>
          <p:cNvPr id="14" name="TextBox 13"/>
          <p:cNvSpPr txBox="1"/>
          <p:nvPr/>
        </p:nvSpPr>
        <p:spPr>
          <a:xfrm>
            <a:off x="3520440" y="2275027"/>
            <a:ext cx="2377440" cy="402336"/>
          </a:xfrm>
          <a:prstGeom prst="rect">
            <a:avLst/>
          </a:prstGeom>
          <a:noFill/>
        </p:spPr>
        <p:txBody>
          <a:bodyPr wrap="square" lIns="0" rIns="0" tIns="0" bIns="0" anchor="t">
            <a:spAutoFit/>
          </a:bodyPr>
          <a:lstStyle/>
          <a:p>
            <a:pPr algn="l">
              <a:spcAft>
                <a:spcPts val="400"/>
              </a:spcAft>
            </a:pPr>
            <a:r>
              <a:rPr sz="1200" b="0" i="0">
                <a:solidFill>
                  <a:srgbClr val="222222"/>
                </a:solidFill>
                <a:latin typeface="Calibri"/>
                <a:ea typeface="Calibri"/>
                <a:cs typeface="Calibri"/>
              </a:rPr>
              <a:t>accuracy (majority class: 0.576)</a:t>
            </a:r>
          </a:p>
        </p:txBody>
      </p:sp>
      <p:sp>
        <p:nvSpPr>
          <p:cNvPr id="15" name="Rounded Rectangle 14"/>
          <p:cNvSpPr/>
          <p:nvPr/>
        </p:nvSpPr>
        <p:spPr>
          <a:xfrm>
            <a:off x="6172200" y="1691640"/>
            <a:ext cx="2651760" cy="1005840"/>
          </a:xfrm>
          <a:prstGeom prst="roundRect">
            <a:avLst>
              <a:gd name="adj" fmla="val 5000"/>
            </a:avLst>
          </a:prstGeom>
          <a:solidFill>
            <a:srgbClr val="DEEA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6172200" y="1691640"/>
            <a:ext cx="73152" cy="1005840"/>
          </a:xfrm>
          <a:prstGeom prst="rect">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355080" y="1746504"/>
            <a:ext cx="2377440" cy="553212"/>
          </a:xfrm>
          <a:prstGeom prst="rect">
            <a:avLst/>
          </a:prstGeom>
          <a:noFill/>
        </p:spPr>
        <p:txBody>
          <a:bodyPr wrap="square" lIns="0" rIns="0" tIns="0" bIns="0" anchor="ctr">
            <a:spAutoFit/>
          </a:bodyPr>
          <a:lstStyle/>
          <a:p>
            <a:pPr algn="l">
              <a:spcAft>
                <a:spcPts val="400"/>
              </a:spcAft>
            </a:pPr>
            <a:r>
              <a:rPr sz="2600" b="1" i="0">
                <a:solidFill>
                  <a:srgbClr val="1F3864"/>
                </a:solidFill>
                <a:latin typeface="Calibri"/>
                <a:ea typeface="Calibri"/>
                <a:cs typeface="Calibri"/>
              </a:rPr>
              <a:t>0.500</a:t>
            </a:r>
          </a:p>
        </p:txBody>
      </p:sp>
      <p:sp>
        <p:nvSpPr>
          <p:cNvPr id="18" name="TextBox 17"/>
          <p:cNvSpPr txBox="1"/>
          <p:nvPr/>
        </p:nvSpPr>
        <p:spPr>
          <a:xfrm>
            <a:off x="6355080" y="2275027"/>
            <a:ext cx="2377440" cy="402336"/>
          </a:xfrm>
          <a:prstGeom prst="rect">
            <a:avLst/>
          </a:prstGeom>
          <a:noFill/>
        </p:spPr>
        <p:txBody>
          <a:bodyPr wrap="square" lIns="0" rIns="0" tIns="0" bIns="0" anchor="t">
            <a:spAutoFit/>
          </a:bodyPr>
          <a:lstStyle/>
          <a:p>
            <a:pPr algn="l">
              <a:spcAft>
                <a:spcPts val="400"/>
              </a:spcAft>
            </a:pPr>
            <a:r>
              <a:rPr sz="1200" b="0" i="0">
                <a:solidFill>
                  <a:srgbClr val="222222"/>
                </a:solidFill>
                <a:latin typeface="Calibri"/>
                <a:ea typeface="Calibri"/>
                <a:cs typeface="Calibri"/>
              </a:rPr>
              <a:t>macro-F1 of logistic regression, all data</a:t>
            </a:r>
          </a:p>
        </p:txBody>
      </p:sp>
      <p:sp>
        <p:nvSpPr>
          <p:cNvPr id="19" name="Rounded Rectangle 18"/>
          <p:cNvSpPr/>
          <p:nvPr/>
        </p:nvSpPr>
        <p:spPr>
          <a:xfrm>
            <a:off x="9006840" y="1691640"/>
            <a:ext cx="2651760" cy="1005840"/>
          </a:xfrm>
          <a:prstGeom prst="roundRect">
            <a:avLst>
              <a:gd name="adj" fmla="val 5000"/>
            </a:avLst>
          </a:prstGeom>
          <a:solidFill>
            <a:srgbClr val="DEEA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9006840" y="1691640"/>
            <a:ext cx="73152" cy="1005840"/>
          </a:xfrm>
          <a:prstGeom prst="rect">
            <a:avLst/>
          </a:prstGeom>
          <a:solidFill>
            <a:srgbClr val="6B52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9189720" y="1746504"/>
            <a:ext cx="2377440" cy="553212"/>
          </a:xfrm>
          <a:prstGeom prst="rect">
            <a:avLst/>
          </a:prstGeom>
          <a:noFill/>
        </p:spPr>
        <p:txBody>
          <a:bodyPr wrap="square" lIns="0" rIns="0" tIns="0" bIns="0" anchor="ctr">
            <a:spAutoFit/>
          </a:bodyPr>
          <a:lstStyle/>
          <a:p>
            <a:pPr algn="l">
              <a:spcAft>
                <a:spcPts val="400"/>
              </a:spcAft>
            </a:pPr>
            <a:r>
              <a:rPr sz="2600" b="1" i="0">
                <a:solidFill>
                  <a:srgbClr val="1F3864"/>
                </a:solidFill>
                <a:latin typeface="Calibri"/>
                <a:ea typeface="Calibri"/>
                <a:cs typeface="Calibri"/>
              </a:rPr>
              <a:t>504 s</a:t>
            </a:r>
          </a:p>
        </p:txBody>
      </p:sp>
      <p:sp>
        <p:nvSpPr>
          <p:cNvPr id="22" name="TextBox 21"/>
          <p:cNvSpPr txBox="1"/>
          <p:nvPr/>
        </p:nvSpPr>
        <p:spPr>
          <a:xfrm>
            <a:off x="9189720" y="2275027"/>
            <a:ext cx="2377440" cy="402336"/>
          </a:xfrm>
          <a:prstGeom prst="rect">
            <a:avLst/>
          </a:prstGeom>
          <a:noFill/>
        </p:spPr>
        <p:txBody>
          <a:bodyPr wrap="square" lIns="0" rIns="0" tIns="0" bIns="0" anchor="t">
            <a:spAutoFit/>
          </a:bodyPr>
          <a:lstStyle/>
          <a:p>
            <a:pPr algn="l">
              <a:spcAft>
                <a:spcPts val="400"/>
              </a:spcAft>
            </a:pPr>
            <a:r>
              <a:rPr sz="1200" b="0" i="0">
                <a:solidFill>
                  <a:srgbClr val="222222"/>
                </a:solidFill>
                <a:latin typeface="Calibri"/>
                <a:ea typeface="Calibri"/>
                <a:cs typeface="Calibri"/>
              </a:rPr>
              <a:t>training time of the pipeline</a:t>
            </a:r>
          </a:p>
        </p:txBody>
      </p:sp>
      <p:pic>
        <p:nvPicPr>
          <p:cNvPr id="23" name="Picture 22" descr="f01_model_comparison.png"/>
          <p:cNvPicPr>
            <a:picLocks noChangeAspect="1"/>
          </p:cNvPicPr>
          <p:nvPr/>
        </p:nvPicPr>
        <p:blipFill>
          <a:blip r:embed="rId4"/>
          <a:stretch>
            <a:fillRect/>
          </a:stretch>
        </p:blipFill>
        <p:spPr>
          <a:xfrm>
            <a:off x="1061320" y="2834640"/>
            <a:ext cx="5832638" cy="3429000"/>
          </a:xfrm>
          <a:prstGeom prst="rect">
            <a:avLst/>
          </a:prstGeom>
        </p:spPr>
      </p:pic>
      <p:sp>
        <p:nvSpPr>
          <p:cNvPr id="24" name="TextBox 23"/>
          <p:cNvSpPr txBox="1"/>
          <p:nvPr/>
        </p:nvSpPr>
        <p:spPr>
          <a:xfrm>
            <a:off x="7680960" y="2880360"/>
            <a:ext cx="4023360" cy="3383280"/>
          </a:xfrm>
          <a:prstGeom prst="rect">
            <a:avLst/>
          </a:prstGeom>
          <a:noFill/>
        </p:spPr>
        <p:txBody>
          <a:bodyPr wrap="square" lIns="0" rIns="0" tIns="0" bIns="0" anchor="t">
            <a:spAutoFit/>
          </a:bodyPr>
          <a:lstStyle/>
          <a:p>
            <a:pPr algn="l" marL="256032" indent="-201168">
              <a:spcAft>
                <a:spcPts val="600"/>
              </a:spcAft>
              <a:buChar char="•"/>
            </a:pPr>
            <a:r>
              <a:rPr sz="1300" b="0" i="0">
                <a:solidFill>
                  <a:srgbClr val="222222"/>
                </a:solidFill>
                <a:latin typeface="Calibri"/>
                <a:ea typeface="Calibri"/>
                <a:cs typeface="Calibri"/>
              </a:rPr>
              <a:t>Majority class gets the best accuracy but macro-F1 0.244: accuracy alone misleads on this data.</a:t>
            </a:r>
          </a:p>
          <a:p>
            <a:pPr algn="l" marL="256032" indent="-201168">
              <a:spcAft>
                <a:spcPts val="600"/>
              </a:spcAft>
              <a:buChar char="•"/>
            </a:pPr>
            <a:r>
              <a:rPr sz="1300" b="0" i="0">
                <a:solidFill>
                  <a:srgbClr val="222222"/>
                </a:solidFill>
                <a:latin typeface="Calibri"/>
                <a:ea typeface="Calibri"/>
                <a:cs typeface="Calibri"/>
              </a:rPr>
              <a:t>PCA + default SVM, random search and Firefly are within about 0.01 macro-F1 of each other.</a:t>
            </a:r>
          </a:p>
          <a:p>
            <a:pPr algn="l" marL="256032" indent="-201168">
              <a:spcAft>
                <a:spcPts val="600"/>
              </a:spcAft>
              <a:buChar char="•"/>
            </a:pPr>
            <a:r>
              <a:rPr sz="1300" b="0" i="0">
                <a:solidFill>
                  <a:srgbClr val="222222"/>
                </a:solidFill>
                <a:latin typeface="Calibri"/>
                <a:ea typeface="Calibri"/>
                <a:cs typeface="Calibri"/>
              </a:rPr>
              <a:t>TF-IDF linear models are better; trained on all 18,369 statements logistic regression reaches 0.500.</a:t>
            </a:r>
          </a:p>
          <a:p>
            <a:pPr algn="l" marL="256032" indent="-201168">
              <a:spcAft>
                <a:spcPts val="400"/>
              </a:spcAft>
              <a:buChar char="•"/>
            </a:pPr>
            <a:r>
              <a:rPr sz="1300" b="0" i="0">
                <a:solidFill>
                  <a:srgbClr val="222222"/>
                </a:solidFill>
                <a:latin typeface="Calibri"/>
                <a:ea typeface="Calibri"/>
                <a:cs typeface="Calibri"/>
              </a:rPr>
              <a:t>Test = 2,296 statements never used for training or tuning.</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Confusion Matrix &amp; Per-Class Results</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C6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18</a:t>
            </a:r>
            <a:endParaRPr lang="en-US" sz="1000" dirty="0"/>
          </a:p>
        </p:txBody>
      </p:sp>
      <p:pic>
        <p:nvPicPr>
          <p:cNvPr id="7" name="Picture 6" descr="f03_confusion_matrix.png"/>
          <p:cNvPicPr>
            <a:picLocks noChangeAspect="1"/>
          </p:cNvPicPr>
          <p:nvPr/>
        </p:nvPicPr>
        <p:blipFill>
          <a:blip r:embed="rId3"/>
          <a:stretch>
            <a:fillRect/>
          </a:stretch>
        </p:blipFill>
        <p:spPr>
          <a:xfrm>
            <a:off x="574613" y="1691640"/>
            <a:ext cx="4611492" cy="4023360"/>
          </a:xfrm>
          <a:prstGeom prst="rect">
            <a:avLst/>
          </a:prstGeom>
        </p:spPr>
      </p:pic>
      <p:pic>
        <p:nvPicPr>
          <p:cNvPr id="8" name="Picture 7" descr="f04_per_class_prf.png"/>
          <p:cNvPicPr>
            <a:picLocks noChangeAspect="1"/>
          </p:cNvPicPr>
          <p:nvPr/>
        </p:nvPicPr>
        <p:blipFill>
          <a:blip r:embed="rId2"/>
          <a:stretch>
            <a:fillRect/>
          </a:stretch>
        </p:blipFill>
        <p:spPr>
          <a:xfrm>
            <a:off x="6320138" y="1691640"/>
            <a:ext cx="4550443" cy="2926080"/>
          </a:xfrm>
          <a:prstGeom prst="rect">
            <a:avLst/>
          </a:prstGeom>
        </p:spPr>
      </p:pic>
      <p:sp>
        <p:nvSpPr>
          <p:cNvPr id="9" name="TextBox 8"/>
          <p:cNvSpPr txBox="1"/>
          <p:nvPr/>
        </p:nvSpPr>
        <p:spPr>
          <a:xfrm>
            <a:off x="5486400" y="4709160"/>
            <a:ext cx="6217920" cy="1554480"/>
          </a:xfrm>
          <a:prstGeom prst="rect">
            <a:avLst/>
          </a:prstGeom>
          <a:noFill/>
        </p:spPr>
        <p:txBody>
          <a:bodyPr wrap="square" lIns="0" rIns="0" tIns="0" bIns="0" anchor="t">
            <a:spAutoFit/>
          </a:bodyPr>
          <a:lstStyle/>
          <a:p>
            <a:pPr algn="l" marL="256032" indent="-201168">
              <a:spcAft>
                <a:spcPts val="400"/>
              </a:spcAft>
              <a:buChar char="•"/>
            </a:pPr>
            <a:r>
              <a:rPr sz="1400" b="0" i="0">
                <a:solidFill>
                  <a:srgbClr val="222222"/>
                </a:solidFill>
                <a:latin typeface="Calibri"/>
                <a:ea typeface="Calibri"/>
                <a:cs typeface="Calibri"/>
              </a:rPr>
              <a:t>F1 by class: FAKE 0.63, REAL 0.42, PARTIALLY TRUE 0.24 (hardest; recall 0.28).</a:t>
            </a:r>
          </a:p>
          <a:p>
            <a:pPr algn="l" marL="256032" indent="-201168">
              <a:spcAft>
                <a:spcPts val="400"/>
              </a:spcAft>
              <a:buChar char="•"/>
            </a:pPr>
            <a:r>
              <a:rPr sz="1400" b="0" i="0">
                <a:solidFill>
                  <a:srgbClr val="222222"/>
                </a:solidFill>
                <a:latin typeface="Calibri"/>
                <a:ea typeface="Calibri"/>
                <a:cs typeface="Calibri"/>
              </a:rPr>
              <a:t>Most frequent errors (seed 42): FAKE read as REAL 324, FAKE as PARTIALLY TRUE 218, REAL as FAKE 213.</a:t>
            </a:r>
          </a:p>
          <a:p>
            <a:pPr algn="l" marL="256032" indent="-201168">
              <a:spcAft>
                <a:spcPts val="400"/>
              </a:spcAft>
              <a:buChar char="•"/>
            </a:pPr>
            <a:r>
              <a:rPr sz="1400" b="0" i="0">
                <a:solidFill>
                  <a:srgbClr val="222222"/>
                </a:solidFill>
                <a:latin typeface="Calibri"/>
                <a:ea typeface="Calibri"/>
                <a:cs typeface="Calibri"/>
              </a:rPr>
              <a:t>Barely-true statements (labelled FAKE) are split across all three verdicts, so the classes overlap.</a:t>
            </a:r>
          </a:p>
        </p:txBody>
      </p:sp>
      <p:sp>
        <p:nvSpPr>
          <p:cNvPr id="10" name="TextBox 9"/>
          <p:cNvSpPr txBox="1"/>
          <p:nvPr/>
        </p:nvSpPr>
        <p:spPr>
          <a:xfrm>
            <a:off x="502920" y="5806440"/>
            <a:ext cx="4754880" cy="457200"/>
          </a:xfrm>
          <a:prstGeom prst="rect">
            <a:avLst/>
          </a:prstGeom>
          <a:noFill/>
        </p:spPr>
        <p:txBody>
          <a:bodyPr wrap="square" lIns="0" rIns="0" tIns="0" bIns="0" anchor="t">
            <a:spAutoFit/>
          </a:bodyPr>
          <a:lstStyle/>
          <a:p>
            <a:pPr algn="l">
              <a:spcAft>
                <a:spcPts val="400"/>
              </a:spcAft>
            </a:pPr>
            <a:r>
              <a:rPr sz="1200" b="0" i="1">
                <a:solidFill>
                  <a:srgbClr val="1F3864"/>
                </a:solidFill>
                <a:latin typeface="Calibri"/>
                <a:ea typeface="Calibri"/>
                <a:cs typeface="Calibri"/>
              </a:rPr>
              <a:t>Seed 42; rows = true class, columns = predicted.</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Parameter &amp; Confidence Analysis</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C6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19</a:t>
            </a:r>
            <a:endParaRPr lang="en-US" sz="1000" dirty="0"/>
          </a:p>
        </p:txBody>
      </p:sp>
      <p:pic>
        <p:nvPicPr>
          <p:cNvPr id="7" name="Picture 6" descr="f02_firefly_convergence.png"/>
          <p:cNvPicPr>
            <a:picLocks noChangeAspect="1"/>
          </p:cNvPicPr>
          <p:nvPr/>
        </p:nvPicPr>
        <p:blipFill>
          <a:blip r:embed="rId3"/>
          <a:stretch>
            <a:fillRect/>
          </a:stretch>
        </p:blipFill>
        <p:spPr>
          <a:xfrm>
            <a:off x="502920" y="1939443"/>
            <a:ext cx="3657600" cy="2247593"/>
          </a:xfrm>
          <a:prstGeom prst="rect">
            <a:avLst/>
          </a:prstGeom>
        </p:spPr>
      </p:pic>
      <p:graphicFrame>
        <p:nvGraphicFramePr>
          <p:cNvPr id="8" name="Chart 7"/>
          <p:cNvGraphicFramePr>
            <a:graphicFrameLocks noGrp="1"/>
          </p:cNvGraphicFramePr>
          <p:nvPr/>
        </p:nvGraphicFramePr>
        <p:xfrm>
          <a:off x="4251960" y="1691640"/>
          <a:ext cx="3840480" cy="2743200"/>
        </p:xfrm>
        <a:graphic>
          <a:graphicData uri="http://schemas.openxmlformats.org/drawingml/2006/chart">
            <c:chart xmlns:c="http://schemas.openxmlformats.org/drawingml/2006/chart" r:id="rId2"/>
          </a:graphicData>
        </a:graphic>
      </p:graphicFrame>
      <p:pic>
        <p:nvPicPr>
          <p:cNvPr id="9" name="Picture 8" descr="f11_label_vs_probability.png"/>
          <p:cNvPicPr>
            <a:picLocks noChangeAspect="1"/>
          </p:cNvPicPr>
          <p:nvPr/>
        </p:nvPicPr>
        <p:blipFill>
          <a:blip r:embed="rId6"/>
          <a:stretch>
            <a:fillRect/>
          </a:stretch>
        </p:blipFill>
        <p:spPr>
          <a:xfrm>
            <a:off x="8183879" y="2042566"/>
            <a:ext cx="3566160" cy="2041347"/>
          </a:xfrm>
          <a:prstGeom prst="rect">
            <a:avLst/>
          </a:prstGeom>
        </p:spPr>
      </p:pic>
      <p:sp>
        <p:nvSpPr>
          <p:cNvPr id="10" name="TextBox 9"/>
          <p:cNvSpPr txBox="1"/>
          <p:nvPr/>
        </p:nvSpPr>
        <p:spPr>
          <a:xfrm>
            <a:off x="502920" y="4526280"/>
            <a:ext cx="3657600" cy="365760"/>
          </a:xfrm>
          <a:prstGeom prst="rect">
            <a:avLst/>
          </a:prstGeom>
          <a:noFill/>
        </p:spPr>
        <p:txBody>
          <a:bodyPr wrap="square" lIns="0" rIns="0" tIns="0" bIns="0" anchor="t">
            <a:spAutoFit/>
          </a:bodyPr>
          <a:lstStyle/>
          <a:p>
            <a:pPr algn="l">
              <a:spcAft>
                <a:spcPts val="400"/>
              </a:spcAft>
            </a:pPr>
            <a:r>
              <a:rPr sz="1000" b="0" i="1">
                <a:solidFill>
                  <a:srgbClr val="1F3864"/>
                </a:solidFill>
                <a:latin typeface="Calibri"/>
                <a:ea typeface="Calibri"/>
                <a:cs typeface="Calibri"/>
              </a:rPr>
              <a:t>Firefly fitness per generation, 3 seeds (dotted = random search)</a:t>
            </a:r>
          </a:p>
        </p:txBody>
      </p:sp>
      <p:sp>
        <p:nvSpPr>
          <p:cNvPr id="11" name="TextBox 10"/>
          <p:cNvSpPr txBox="1"/>
          <p:nvPr/>
        </p:nvSpPr>
        <p:spPr>
          <a:xfrm>
            <a:off x="4251960" y="4526280"/>
            <a:ext cx="3840480" cy="365760"/>
          </a:xfrm>
          <a:prstGeom prst="rect">
            <a:avLst/>
          </a:prstGeom>
          <a:noFill/>
        </p:spPr>
        <p:txBody>
          <a:bodyPr wrap="square" lIns="0" rIns="0" tIns="0" bIns="0" anchor="t">
            <a:spAutoFit/>
          </a:bodyPr>
          <a:lstStyle/>
          <a:p>
            <a:pPr algn="l">
              <a:spcAft>
                <a:spcPts val="400"/>
              </a:spcAft>
            </a:pPr>
            <a:r>
              <a:rPr sz="1000" b="0" i="1">
                <a:solidFill>
                  <a:srgbClr val="1F3864"/>
                </a:solidFill>
                <a:latin typeface="Calibri"/>
                <a:ea typeface="Calibri"/>
                <a:cs typeface="Calibri"/>
              </a:rPr>
              <a:t>Accuracy by confidence bin (seed 42)</a:t>
            </a:r>
          </a:p>
        </p:txBody>
      </p:sp>
      <p:sp>
        <p:nvSpPr>
          <p:cNvPr id="12" name="TextBox 11"/>
          <p:cNvSpPr txBox="1"/>
          <p:nvPr/>
        </p:nvSpPr>
        <p:spPr>
          <a:xfrm>
            <a:off x="8183879" y="4526280"/>
            <a:ext cx="3566160" cy="365760"/>
          </a:xfrm>
          <a:prstGeom prst="rect">
            <a:avLst/>
          </a:prstGeom>
          <a:noFill/>
        </p:spPr>
        <p:txBody>
          <a:bodyPr wrap="square" lIns="0" rIns="0" tIns="0" bIns="0" anchor="t">
            <a:spAutoFit/>
          </a:bodyPr>
          <a:lstStyle/>
          <a:p>
            <a:pPr algn="l">
              <a:spcAft>
                <a:spcPts val="400"/>
              </a:spcAft>
            </a:pPr>
            <a:r>
              <a:rPr sz="1000" b="0" i="1">
                <a:solidFill>
                  <a:srgbClr val="1F3864"/>
                </a:solidFill>
                <a:latin typeface="Calibri"/>
                <a:ea typeface="Calibri"/>
                <a:cs typeface="Calibri"/>
              </a:rPr>
              <a:t>Verdict vs highest-probability class</a:t>
            </a:r>
          </a:p>
        </p:txBody>
      </p:sp>
      <p:sp>
        <p:nvSpPr>
          <p:cNvPr id="13" name="TextBox 12"/>
          <p:cNvSpPr txBox="1"/>
          <p:nvPr/>
        </p:nvSpPr>
        <p:spPr>
          <a:xfrm>
            <a:off x="502920" y="4937760"/>
            <a:ext cx="11155680" cy="1371600"/>
          </a:xfrm>
          <a:prstGeom prst="rect">
            <a:avLst/>
          </a:prstGeom>
          <a:noFill/>
        </p:spPr>
        <p:txBody>
          <a:bodyPr wrap="square" lIns="0" rIns="0" tIns="0" bIns="0" anchor="t">
            <a:spAutoFit/>
          </a:bodyPr>
          <a:lstStyle/>
          <a:p>
            <a:pPr algn="l" marL="256032" indent="-201168">
              <a:spcAft>
                <a:spcPts val="400"/>
              </a:spcAft>
              <a:buChar char="•"/>
            </a:pPr>
            <a:r>
              <a:rPr sz="1300" b="0" i="0">
                <a:solidFill>
                  <a:srgbClr val="222222"/>
                </a:solidFill>
                <a:latin typeface="Calibri"/>
                <a:ea typeface="Calibri"/>
                <a:cs typeface="Calibri"/>
              </a:rPr>
              <a:t>No decision threshold exists in TruthGlow; the closest analogue is confidence: accuracy is 0.37 at confidence 0.4-0.5 and 0.68-0.79 at 0.6-0.8, so high confidence is informative.</a:t>
            </a:r>
          </a:p>
          <a:p>
            <a:pPr algn="l" marL="256032" indent="-201168">
              <a:spcAft>
                <a:spcPts val="400"/>
              </a:spcAft>
              <a:buChar char="•"/>
            </a:pPr>
            <a:r>
              <a:rPr sz="1300" b="0" i="0">
                <a:solidFill>
                  <a:srgbClr val="222222"/>
                </a:solidFill>
                <a:latin typeface="Calibri"/>
                <a:ea typeface="Calibri"/>
                <a:cs typeface="Calibri"/>
              </a:rPr>
              <a:t>Firefly keeps 148 ± 12 of 300 components (C 8.5, gamma 0.0010); its training fitness 0.433 beats random search 0.426, but test macro-F1 does not.</a:t>
            </a:r>
          </a:p>
          <a:p>
            <a:pPr algn="l" marL="256032" indent="-201168">
              <a:spcAft>
                <a:spcPts val="400"/>
              </a:spcAft>
              <a:buChar char="•"/>
            </a:pPr>
            <a:r>
              <a:rPr sz="1300" b="0" i="0">
                <a:solidFill>
                  <a:srgbClr val="222222"/>
                </a:solidFill>
                <a:latin typeface="Calibri"/>
                <a:ea typeface="Calibri"/>
                <a:cs typeface="Calibri"/>
              </a:rPr>
              <a:t>Verdict (SVC.predict) and probabilities (Platt) disagree on 48.8% of test statements; the probabilities almost always favour FAKE and never favour PARTIALLY TRUE.</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Performance &amp; Testing</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C6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20</a:t>
            </a:r>
            <a:endParaRPr lang="en-US" sz="1000" dirty="0"/>
          </a:p>
        </p:txBody>
      </p:sp>
      <p:sp>
        <p:nvSpPr>
          <p:cNvPr id="7" name="Rounded Rectangle 6"/>
          <p:cNvSpPr/>
          <p:nvPr/>
        </p:nvSpPr>
        <p:spPr>
          <a:xfrm>
            <a:off x="502920" y="1691640"/>
            <a:ext cx="2651760" cy="1005840"/>
          </a:xfrm>
          <a:prstGeom prst="roundRect">
            <a:avLst>
              <a:gd name="adj" fmla="val 5000"/>
            </a:avLst>
          </a:prstGeom>
          <a:solidFill>
            <a:srgbClr val="DEEA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502920" y="1691640"/>
            <a:ext cx="73152" cy="100584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685800" y="1746504"/>
            <a:ext cx="2377440" cy="553212"/>
          </a:xfrm>
          <a:prstGeom prst="rect">
            <a:avLst/>
          </a:prstGeom>
          <a:noFill/>
        </p:spPr>
        <p:txBody>
          <a:bodyPr wrap="square" lIns="0" rIns="0" tIns="0" bIns="0" anchor="ctr">
            <a:spAutoFit/>
          </a:bodyPr>
          <a:lstStyle/>
          <a:p>
            <a:pPr algn="l">
              <a:spcAft>
                <a:spcPts val="400"/>
              </a:spcAft>
            </a:pPr>
            <a:r>
              <a:rPr sz="2600" b="1" i="0">
                <a:solidFill>
                  <a:srgbClr val="1F3864"/>
                </a:solidFill>
                <a:latin typeface="Calibri"/>
                <a:ea typeface="Calibri"/>
                <a:cs typeface="Calibri"/>
              </a:rPr>
              <a:t>3.7 ms</a:t>
            </a:r>
          </a:p>
        </p:txBody>
      </p:sp>
      <p:sp>
        <p:nvSpPr>
          <p:cNvPr id="10" name="TextBox 9"/>
          <p:cNvSpPr txBox="1"/>
          <p:nvPr/>
        </p:nvSpPr>
        <p:spPr>
          <a:xfrm>
            <a:off x="685800" y="2275027"/>
            <a:ext cx="2377440" cy="402336"/>
          </a:xfrm>
          <a:prstGeom prst="rect">
            <a:avLst/>
          </a:prstGeom>
          <a:noFill/>
        </p:spPr>
        <p:txBody>
          <a:bodyPr wrap="square" lIns="0" rIns="0" tIns="0" bIns="0" anchor="t">
            <a:spAutoFit/>
          </a:bodyPr>
          <a:lstStyle/>
          <a:p>
            <a:pPr algn="l">
              <a:spcAft>
                <a:spcPts val="400"/>
              </a:spcAft>
            </a:pPr>
            <a:r>
              <a:rPr sz="1200" b="0" i="0">
                <a:solidFill>
                  <a:srgbClr val="222222"/>
                </a:solidFill>
                <a:latin typeface="Calibri"/>
                <a:ea typeface="Calibri"/>
                <a:cs typeface="Calibri"/>
              </a:rPr>
              <a:t>server time per article (mean)</a:t>
            </a:r>
          </a:p>
        </p:txBody>
      </p:sp>
      <p:sp>
        <p:nvSpPr>
          <p:cNvPr id="11" name="Rounded Rectangle 10"/>
          <p:cNvSpPr/>
          <p:nvPr/>
        </p:nvSpPr>
        <p:spPr>
          <a:xfrm>
            <a:off x="3337560" y="1691640"/>
            <a:ext cx="2651760" cy="1005840"/>
          </a:xfrm>
          <a:prstGeom prst="roundRect">
            <a:avLst>
              <a:gd name="adj" fmla="val 5000"/>
            </a:avLst>
          </a:prstGeom>
          <a:solidFill>
            <a:srgbClr val="DEEA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337560" y="1691640"/>
            <a:ext cx="73152" cy="1005840"/>
          </a:xfrm>
          <a:prstGeom prst="rect">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3520440" y="1746504"/>
            <a:ext cx="2377440" cy="553212"/>
          </a:xfrm>
          <a:prstGeom prst="rect">
            <a:avLst/>
          </a:prstGeom>
          <a:noFill/>
        </p:spPr>
        <p:txBody>
          <a:bodyPr wrap="square" lIns="0" rIns="0" tIns="0" bIns="0" anchor="ctr">
            <a:spAutoFit/>
          </a:bodyPr>
          <a:lstStyle/>
          <a:p>
            <a:pPr algn="l">
              <a:spcAft>
                <a:spcPts val="400"/>
              </a:spcAft>
            </a:pPr>
            <a:r>
              <a:rPr sz="2600" b="1" i="0">
                <a:solidFill>
                  <a:srgbClr val="1F3864"/>
                </a:solidFill>
                <a:latin typeface="Calibri"/>
                <a:ea typeface="Calibri"/>
                <a:cs typeface="Calibri"/>
              </a:rPr>
              <a:t>6.5 ms</a:t>
            </a:r>
          </a:p>
        </p:txBody>
      </p:sp>
      <p:sp>
        <p:nvSpPr>
          <p:cNvPr id="14" name="TextBox 13"/>
          <p:cNvSpPr txBox="1"/>
          <p:nvPr/>
        </p:nvSpPr>
        <p:spPr>
          <a:xfrm>
            <a:off x="3520440" y="2275027"/>
            <a:ext cx="2377440" cy="402336"/>
          </a:xfrm>
          <a:prstGeom prst="rect">
            <a:avLst/>
          </a:prstGeom>
          <a:noFill/>
        </p:spPr>
        <p:txBody>
          <a:bodyPr wrap="square" lIns="0" rIns="0" tIns="0" bIns="0" anchor="t">
            <a:spAutoFit/>
          </a:bodyPr>
          <a:lstStyle/>
          <a:p>
            <a:pPr algn="l">
              <a:spcAft>
                <a:spcPts val="400"/>
              </a:spcAft>
            </a:pPr>
            <a:r>
              <a:rPr sz="1200" b="0" i="0">
                <a:solidFill>
                  <a:srgbClr val="222222"/>
                </a:solidFill>
                <a:latin typeface="Calibri"/>
                <a:ea typeface="Calibri"/>
                <a:cs typeface="Calibri"/>
              </a:rPr>
              <a:t>round trip, median (p95 30 ms)</a:t>
            </a:r>
          </a:p>
        </p:txBody>
      </p:sp>
      <p:sp>
        <p:nvSpPr>
          <p:cNvPr id="15" name="Rounded Rectangle 14"/>
          <p:cNvSpPr/>
          <p:nvPr/>
        </p:nvSpPr>
        <p:spPr>
          <a:xfrm>
            <a:off x="6172200" y="1691640"/>
            <a:ext cx="2651760" cy="1005840"/>
          </a:xfrm>
          <a:prstGeom prst="roundRect">
            <a:avLst>
              <a:gd name="adj" fmla="val 5000"/>
            </a:avLst>
          </a:prstGeom>
          <a:solidFill>
            <a:srgbClr val="DEEA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6172200" y="1691640"/>
            <a:ext cx="73152" cy="1005840"/>
          </a:xfrm>
          <a:prstGeom prst="rect">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355080" y="1746504"/>
            <a:ext cx="2377440" cy="553212"/>
          </a:xfrm>
          <a:prstGeom prst="rect">
            <a:avLst/>
          </a:prstGeom>
          <a:noFill/>
        </p:spPr>
        <p:txBody>
          <a:bodyPr wrap="square" lIns="0" rIns="0" tIns="0" bIns="0" anchor="ctr">
            <a:spAutoFit/>
          </a:bodyPr>
          <a:lstStyle/>
          <a:p>
            <a:pPr algn="l">
              <a:spcAft>
                <a:spcPts val="400"/>
              </a:spcAft>
            </a:pPr>
            <a:r>
              <a:rPr sz="2600" b="1" i="0">
                <a:solidFill>
                  <a:srgbClr val="1F3864"/>
                </a:solidFill>
                <a:latin typeface="Calibri"/>
                <a:ea typeface="Calibri"/>
                <a:cs typeface="Calibri"/>
              </a:rPr>
              <a:t>1.2 s</a:t>
            </a:r>
          </a:p>
        </p:txBody>
      </p:sp>
      <p:sp>
        <p:nvSpPr>
          <p:cNvPr id="18" name="TextBox 17"/>
          <p:cNvSpPr txBox="1"/>
          <p:nvPr/>
        </p:nvSpPr>
        <p:spPr>
          <a:xfrm>
            <a:off x="6355080" y="2275027"/>
            <a:ext cx="2377440" cy="402336"/>
          </a:xfrm>
          <a:prstGeom prst="rect">
            <a:avLst/>
          </a:prstGeom>
          <a:noFill/>
        </p:spPr>
        <p:txBody>
          <a:bodyPr wrap="square" lIns="0" rIns="0" tIns="0" bIns="0" anchor="t">
            <a:spAutoFit/>
          </a:bodyPr>
          <a:lstStyle/>
          <a:p>
            <a:pPr algn="l">
              <a:spcAft>
                <a:spcPts val="400"/>
              </a:spcAft>
            </a:pPr>
            <a:r>
              <a:rPr sz="1200" b="0" i="0">
                <a:solidFill>
                  <a:srgbClr val="222222"/>
                </a:solidFill>
                <a:latin typeface="Calibri"/>
                <a:ea typeface="Calibri"/>
                <a:cs typeface="Calibri"/>
              </a:rPr>
              <a:t>batch of 2,296 statements</a:t>
            </a:r>
          </a:p>
        </p:txBody>
      </p:sp>
      <p:sp>
        <p:nvSpPr>
          <p:cNvPr id="19" name="Rounded Rectangle 18"/>
          <p:cNvSpPr/>
          <p:nvPr/>
        </p:nvSpPr>
        <p:spPr>
          <a:xfrm>
            <a:off x="9006840" y="1691640"/>
            <a:ext cx="2651760" cy="1005840"/>
          </a:xfrm>
          <a:prstGeom prst="roundRect">
            <a:avLst>
              <a:gd name="adj" fmla="val 5000"/>
            </a:avLst>
          </a:prstGeom>
          <a:solidFill>
            <a:srgbClr val="DEEA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9006840" y="1691640"/>
            <a:ext cx="73152" cy="1005840"/>
          </a:xfrm>
          <a:prstGeom prst="rect">
            <a:avLst/>
          </a:prstGeom>
          <a:solidFill>
            <a:srgbClr val="6B52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9189720" y="1746504"/>
            <a:ext cx="2377440" cy="553212"/>
          </a:xfrm>
          <a:prstGeom prst="rect">
            <a:avLst/>
          </a:prstGeom>
          <a:noFill/>
        </p:spPr>
        <p:txBody>
          <a:bodyPr wrap="square" lIns="0" rIns="0" tIns="0" bIns="0" anchor="ctr">
            <a:spAutoFit/>
          </a:bodyPr>
          <a:lstStyle/>
          <a:p>
            <a:pPr algn="l">
              <a:spcAft>
                <a:spcPts val="400"/>
              </a:spcAft>
            </a:pPr>
            <a:r>
              <a:rPr sz="2600" b="1" i="0">
                <a:solidFill>
                  <a:srgbClr val="1F3864"/>
                </a:solidFill>
                <a:latin typeface="Calibri"/>
                <a:ea typeface="Calibri"/>
                <a:cs typeface="Calibri"/>
              </a:rPr>
              <a:t>504 s</a:t>
            </a:r>
          </a:p>
        </p:txBody>
      </p:sp>
      <p:sp>
        <p:nvSpPr>
          <p:cNvPr id="22" name="TextBox 21"/>
          <p:cNvSpPr txBox="1"/>
          <p:nvPr/>
        </p:nvSpPr>
        <p:spPr>
          <a:xfrm>
            <a:off x="9189720" y="2275027"/>
            <a:ext cx="2377440" cy="402336"/>
          </a:xfrm>
          <a:prstGeom prst="rect">
            <a:avLst/>
          </a:prstGeom>
          <a:noFill/>
        </p:spPr>
        <p:txBody>
          <a:bodyPr wrap="square" lIns="0" rIns="0" tIns="0" bIns="0" anchor="t">
            <a:spAutoFit/>
          </a:bodyPr>
          <a:lstStyle/>
          <a:p>
            <a:pPr algn="l">
              <a:spcAft>
                <a:spcPts val="400"/>
              </a:spcAft>
            </a:pPr>
            <a:r>
              <a:rPr sz="1200" b="0" i="0">
                <a:solidFill>
                  <a:srgbClr val="222222"/>
                </a:solidFill>
                <a:latin typeface="Calibri"/>
                <a:ea typeface="Calibri"/>
                <a:cs typeface="Calibri"/>
              </a:rPr>
              <a:t>training incl. Firefly (CPU)</a:t>
            </a:r>
          </a:p>
        </p:txBody>
      </p:sp>
      <p:graphicFrame>
        <p:nvGraphicFramePr>
          <p:cNvPr id="23" name="Table 22"/>
          <p:cNvGraphicFramePr>
            <a:graphicFrameLocks noGrp="1"/>
          </p:cNvGraphicFramePr>
          <p:nvPr/>
        </p:nvGraphicFramePr>
        <p:xfrm>
          <a:off x="502920" y="2926080"/>
          <a:ext cx="8503920" cy="2103120"/>
        </p:xfrm>
        <a:graphic>
          <a:graphicData uri="http://schemas.openxmlformats.org/drawingml/2006/table">
            <a:tbl>
              <a:tblPr firstRow="0" bandRow="0">
                <a:tableStyleId>{5C22544A-7EE6-4342-B048-85BDC9FD1C3A}</a:tableStyleId>
              </a:tblPr>
              <a:tblGrid>
                <a:gridCol w="1920240"/>
                <a:gridCol w="4754880"/>
                <a:gridCol w="1828800"/>
              </a:tblGrid>
              <a:tr h="420624">
                <a:tc>
                  <a:txBody>
                    <a:bodyPr wrap="square"/>
                    <a:lstStyle/>
                    <a:p>
                      <a:pPr algn="ctr"/>
                      <a:r>
                        <a:rPr sz="1200" b="1">
                          <a:solidFill>
                            <a:srgbClr val="1F3864"/>
                          </a:solidFill>
                          <a:latin typeface="Calibri"/>
                          <a:ea typeface="Calibri"/>
                          <a:cs typeface="Calibri"/>
                        </a:rPr>
                        <a:t>Test layer</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DEEAF6"/>
                    </a:solidFill>
                  </a:tcPr>
                </a:tc>
                <a:tc>
                  <a:txBody>
                    <a:bodyPr wrap="square"/>
                    <a:lstStyle/>
                    <a:p>
                      <a:pPr algn="ctr"/>
                      <a:r>
                        <a:rPr sz="1200" b="1">
                          <a:solidFill>
                            <a:srgbClr val="1F3864"/>
                          </a:solidFill>
                          <a:latin typeface="Calibri"/>
                          <a:ea typeface="Calibri"/>
                          <a:cs typeface="Calibri"/>
                        </a:rPr>
                        <a:t>What it covers</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DEEAF6"/>
                    </a:solidFill>
                  </a:tcPr>
                </a:tc>
                <a:tc>
                  <a:txBody>
                    <a:bodyPr wrap="square"/>
                    <a:lstStyle/>
                    <a:p>
                      <a:pPr algn="ctr"/>
                      <a:r>
                        <a:rPr sz="1200" b="1">
                          <a:solidFill>
                            <a:srgbClr val="1F3864"/>
                          </a:solidFill>
                          <a:latin typeface="Calibri"/>
                          <a:ea typeface="Calibri"/>
                          <a:cs typeface="Calibri"/>
                        </a:rPr>
                        <a:t>Result</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DEEAF6"/>
                    </a:solidFill>
                  </a:tcPr>
                </a:tc>
              </a:tr>
              <a:tr h="420624">
                <a:tc>
                  <a:txBody>
                    <a:bodyPr wrap="square"/>
                    <a:lstStyle/>
                    <a:p>
                      <a:pPr algn="l"/>
                      <a:r>
                        <a:rPr sz="1200" b="1">
                          <a:solidFill>
                            <a:srgbClr val="222222"/>
                          </a:solidFill>
                          <a:latin typeface="Calibri"/>
                          <a:ea typeface="Calibri"/>
                          <a:cs typeface="Calibri"/>
                        </a:rPr>
                        <a:t>Smoke test</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200" b="0">
                          <a:solidFill>
                            <a:srgbClr val="222222"/>
                          </a:solidFill>
                          <a:latin typeface="Calibri"/>
                          <a:ea typeface="Calibri"/>
                          <a:cs typeface="Calibri"/>
                        </a:rPr>
                        <a:t>running server: all endpoints, retrain, errors</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200" b="0">
                          <a:solidFill>
                            <a:srgbClr val="222222"/>
                          </a:solidFill>
                          <a:latin typeface="Calibri"/>
                          <a:ea typeface="Calibri"/>
                          <a:cs typeface="Calibri"/>
                        </a:rPr>
                        <a:t>16 / 16 checks</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r>
              <a:tr h="420624">
                <a:tc>
                  <a:txBody>
                    <a:bodyPr wrap="square"/>
                    <a:lstStyle/>
                    <a:p>
                      <a:pPr algn="l"/>
                      <a:r>
                        <a:rPr sz="1200" b="1">
                          <a:solidFill>
                            <a:srgbClr val="222222"/>
                          </a:solidFill>
                          <a:latin typeface="Calibri"/>
                          <a:ea typeface="Calibri"/>
                          <a:cs typeface="Calibri"/>
                        </a:rPr>
                        <a:t>Unit tests</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l"/>
                      <a:r>
                        <a:rPr sz="1200" b="0">
                          <a:solidFill>
                            <a:srgbClr val="222222"/>
                          </a:solidFill>
                          <a:latin typeface="Calibri"/>
                          <a:ea typeface="Calibri"/>
                          <a:cs typeface="Calibri"/>
                        </a:rPr>
                        <a:t>cleaning, features, labels, Firefly, pipeline, save/load</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l"/>
                      <a:r>
                        <a:rPr sz="1200" b="0">
                          <a:solidFill>
                            <a:srgbClr val="222222"/>
                          </a:solidFill>
                          <a:latin typeface="Calibri"/>
                          <a:ea typeface="Calibri"/>
                          <a:cs typeface="Calibri"/>
                        </a:rPr>
                        <a:t>34 / 34 checks</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r>
              <a:tr h="420624">
                <a:tc>
                  <a:txBody>
                    <a:bodyPr wrap="square"/>
                    <a:lstStyle/>
                    <a:p>
                      <a:pPr algn="l"/>
                      <a:r>
                        <a:rPr sz="1200" b="1">
                          <a:solidFill>
                            <a:srgbClr val="222222"/>
                          </a:solidFill>
                          <a:latin typeface="Calibri"/>
                          <a:ea typeface="Calibri"/>
                          <a:cs typeface="Calibri"/>
                        </a:rPr>
                        <a:t>API edge tests</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200" b="0">
                          <a:solidFill>
                            <a:srgbClr val="222222"/>
                          </a:solidFill>
                          <a:latin typeface="Calibri"/>
                          <a:ea typeface="Calibri"/>
                          <a:cs typeface="Calibri"/>
                        </a:rPr>
                        <a:t>limits, empty or garbage input, non-English text, 413 / 422 / 400</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200" b="0">
                          <a:solidFill>
                            <a:srgbClr val="222222"/>
                          </a:solidFill>
                          <a:latin typeface="Calibri"/>
                          <a:ea typeface="Calibri"/>
                          <a:cs typeface="Calibri"/>
                        </a:rPr>
                        <a:t>33 / 33 checks</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r>
              <a:tr h="420624">
                <a:tc>
                  <a:txBody>
                    <a:bodyPr wrap="square"/>
                    <a:lstStyle/>
                    <a:p>
                      <a:pPr algn="l"/>
                      <a:r>
                        <a:rPr sz="1200" b="1">
                          <a:solidFill>
                            <a:srgbClr val="222222"/>
                          </a:solidFill>
                          <a:latin typeface="Calibri"/>
                          <a:ea typeface="Calibri"/>
                          <a:cs typeface="Calibri"/>
                        </a:rPr>
                        <a:t>Build</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l"/>
                      <a:r>
                        <a:rPr sz="1200" b="0">
                          <a:solidFill>
                            <a:srgbClr val="222222"/>
                          </a:solidFill>
                          <a:latin typeface="Calibri"/>
                          <a:ea typeface="Calibri"/>
                          <a:cs typeface="Calibri"/>
                        </a:rPr>
                        <a:t>npm run build (tsc + vite)</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l"/>
                      <a:r>
                        <a:rPr sz="1200" b="0">
                          <a:solidFill>
                            <a:srgbClr val="222222"/>
                          </a:solidFill>
                          <a:latin typeface="Calibri"/>
                          <a:ea typeface="Calibri"/>
                          <a:cs typeface="Calibri"/>
                        </a:rPr>
                        <a:t>passes</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r>
            </a:tbl>
          </a:graphicData>
        </a:graphic>
      </p:graphicFrame>
      <p:pic>
        <p:nvPicPr>
          <p:cNvPr id="24" name="Picture 23" descr="f07_training_time.png"/>
          <p:cNvPicPr>
            <a:picLocks noChangeAspect="1"/>
          </p:cNvPicPr>
          <p:nvPr/>
        </p:nvPicPr>
        <p:blipFill>
          <a:blip r:embed="rId4"/>
          <a:stretch>
            <a:fillRect/>
          </a:stretch>
        </p:blipFill>
        <p:spPr>
          <a:xfrm>
            <a:off x="9098280" y="3014185"/>
            <a:ext cx="2651760" cy="1195389"/>
          </a:xfrm>
          <a:prstGeom prst="rect">
            <a:avLst/>
          </a:prstGeom>
        </p:spPr>
      </p:pic>
      <p:sp>
        <p:nvSpPr>
          <p:cNvPr id="25" name="TextBox 24"/>
          <p:cNvSpPr txBox="1"/>
          <p:nvPr/>
        </p:nvSpPr>
        <p:spPr>
          <a:xfrm>
            <a:off x="502920" y="5166360"/>
            <a:ext cx="11155680" cy="1097280"/>
          </a:xfrm>
          <a:prstGeom prst="rect">
            <a:avLst/>
          </a:prstGeom>
          <a:noFill/>
        </p:spPr>
        <p:txBody>
          <a:bodyPr wrap="square" lIns="0" rIns="0" tIns="0" bIns="0" anchor="t">
            <a:spAutoFit/>
          </a:bodyPr>
          <a:lstStyle/>
          <a:p>
            <a:pPr algn="l" marL="256032" indent="-201168">
              <a:spcAft>
                <a:spcPts val="400"/>
              </a:spcAft>
              <a:buChar char="•"/>
            </a:pPr>
            <a:r>
              <a:rPr sz="1300" b="0" i="0">
                <a:solidFill>
                  <a:srgbClr val="222222"/>
                </a:solidFill>
                <a:latin typeface="Calibri"/>
                <a:ea typeface="Calibri"/>
                <a:cs typeface="Calibri"/>
              </a:rPr>
              <a:t>Linear models train in 0.1-1 s on the same data, against about 500 s for the Firefly pipeline (random search alone: 480 s).</a:t>
            </a:r>
          </a:p>
          <a:p>
            <a:pPr algn="l" marL="256032" indent="-201168">
              <a:spcAft>
                <a:spcPts val="400"/>
              </a:spcAft>
              <a:buChar char="•"/>
            </a:pPr>
            <a:r>
              <a:rPr sz="1300" b="0" i="0">
                <a:solidFill>
                  <a:srgbClr val="222222"/>
                </a:solidFill>
                <a:latin typeface="Calibri"/>
                <a:ea typeface="Calibri"/>
                <a:cs typeface="Calibri"/>
              </a:rPr>
              <a:t>Measured on 127.0.0.1 on an Intel Core i5-12500 (6 cores, 12 threads) with the CPU idle. Not tested: load, a user study, React component tests; one known library issue (true/false-only label columns).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Comparison with Base Paper (context only – different task and data)</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C6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21</a:t>
            </a:r>
            <a:endParaRPr lang="en-US" sz="1000" dirty="0"/>
          </a:p>
        </p:txBody>
      </p:sp>
      <p:graphicFrame>
        <p:nvGraphicFramePr>
          <p:cNvPr id="7" name="Table 6"/>
          <p:cNvGraphicFramePr>
            <a:graphicFrameLocks noGrp="1"/>
          </p:cNvGraphicFramePr>
          <p:nvPr/>
        </p:nvGraphicFramePr>
        <p:xfrm>
          <a:off x="502920" y="1691640"/>
          <a:ext cx="11155680" cy="3968496"/>
        </p:xfrm>
        <a:graphic>
          <a:graphicData uri="http://schemas.openxmlformats.org/drawingml/2006/table">
            <a:tbl>
              <a:tblPr firstRow="0" bandRow="0">
                <a:tableStyleId>{5C22544A-7EE6-4342-B048-85BDC9FD1C3A}</a:tableStyleId>
              </a:tblPr>
              <a:tblGrid>
                <a:gridCol w="1828800"/>
                <a:gridCol w="4297680"/>
                <a:gridCol w="5029200"/>
              </a:tblGrid>
              <a:tr h="566928">
                <a:tc>
                  <a:txBody>
                    <a:bodyPr wrap="square"/>
                    <a:lstStyle/>
                    <a:p>
                      <a:pPr algn="ctr"/>
                      <a:r>
                        <a:rPr sz="1300" b="1">
                          <a:solidFill>
                            <a:srgbClr val="1F3864"/>
                          </a:solidFill>
                          <a:latin typeface="Calibri"/>
                          <a:ea typeface="Calibri"/>
                          <a:cs typeface="Calibri"/>
                        </a:rPr>
                        <a:t>Aspect</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DEEAF6"/>
                    </a:solidFill>
                  </a:tcPr>
                </a:tc>
                <a:tc>
                  <a:txBody>
                    <a:bodyPr wrap="square"/>
                    <a:lstStyle/>
                    <a:p>
                      <a:pPr algn="ctr"/>
                      <a:r>
                        <a:rPr sz="1300" b="1">
                          <a:solidFill>
                            <a:srgbClr val="1F3864"/>
                          </a:solidFill>
                          <a:latin typeface="Calibri"/>
                          <a:ea typeface="Calibri"/>
                          <a:cs typeface="Calibri"/>
                        </a:rPr>
                        <a:t>Base paper [1]</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DEEAF6"/>
                    </a:solidFill>
                  </a:tcPr>
                </a:tc>
                <a:tc>
                  <a:txBody>
                    <a:bodyPr wrap="square"/>
                    <a:lstStyle/>
                    <a:p>
                      <a:pPr algn="ctr"/>
                      <a:r>
                        <a:rPr sz="1300" b="1">
                          <a:solidFill>
                            <a:srgbClr val="1F3864"/>
                          </a:solidFill>
                          <a:latin typeface="Calibri"/>
                          <a:ea typeface="Calibri"/>
                          <a:cs typeface="Calibri"/>
                        </a:rPr>
                        <a:t>This project (TruthGlow)</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DEEAF6"/>
                    </a:solidFill>
                  </a:tcPr>
                </a:tc>
              </a:tr>
              <a:tr h="566928">
                <a:tc>
                  <a:txBody>
                    <a:bodyPr wrap="square"/>
                    <a:lstStyle/>
                    <a:p>
                      <a:pPr algn="l"/>
                      <a:r>
                        <a:rPr sz="1300" b="1">
                          <a:solidFill>
                            <a:srgbClr val="222222"/>
                          </a:solidFill>
                          <a:latin typeface="Calibri"/>
                          <a:ea typeface="Calibri"/>
                          <a:cs typeface="Calibri"/>
                        </a:rPr>
                        <a:t>Language / data</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300" b="0">
                          <a:solidFill>
                            <a:srgbClr val="222222"/>
                          </a:solidFill>
                          <a:latin typeface="Calibri"/>
                          <a:ea typeface="Calibri"/>
                          <a:cs typeface="Calibri"/>
                        </a:rPr>
                        <a:t>Arabic, 7,474 articles, multi-source</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300" b="0">
                          <a:solidFill>
                            <a:srgbClr val="222222"/>
                          </a:solidFill>
                          <a:latin typeface="Calibri"/>
                          <a:ea typeface="Calibri"/>
                          <a:cs typeface="Calibri"/>
                        </a:rPr>
                        <a:t>English, LIAR2: 18,369 / 2,297 / 2,296 statements</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r>
              <a:tr h="566928">
                <a:tc>
                  <a:txBody>
                    <a:bodyPr wrap="square"/>
                    <a:lstStyle/>
                    <a:p>
                      <a:pPr algn="l"/>
                      <a:r>
                        <a:rPr sz="1300" b="1">
                          <a:solidFill>
                            <a:srgbClr val="222222"/>
                          </a:solidFill>
                          <a:latin typeface="Calibri"/>
                          <a:ea typeface="Calibri"/>
                          <a:cs typeface="Calibri"/>
                        </a:rPr>
                        <a:t>Task</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l"/>
                      <a:r>
                        <a:rPr sz="1300" b="0">
                          <a:solidFill>
                            <a:srgbClr val="222222"/>
                          </a:solidFill>
                          <a:latin typeface="Calibri"/>
                          <a:ea typeface="Calibri"/>
                          <a:cs typeface="Calibri"/>
                        </a:rPr>
                        <a:t>Binary real / fake</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l"/>
                      <a:r>
                        <a:rPr sz="1300" b="0">
                          <a:solidFill>
                            <a:srgbClr val="222222"/>
                          </a:solidFill>
                          <a:latin typeface="Calibri"/>
                          <a:ea typeface="Calibri"/>
                          <a:cs typeface="Calibri"/>
                        </a:rPr>
                        <a:t>Three classes: REAL / PARTIALLY TRUE / FAKE</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r>
              <a:tr h="566928">
                <a:tc>
                  <a:txBody>
                    <a:bodyPr wrap="square"/>
                    <a:lstStyle/>
                    <a:p>
                      <a:pPr algn="l"/>
                      <a:r>
                        <a:rPr sz="1300" b="1">
                          <a:solidFill>
                            <a:srgbClr val="222222"/>
                          </a:solidFill>
                          <a:latin typeface="Calibri"/>
                          <a:ea typeface="Calibri"/>
                          <a:cs typeface="Calibri"/>
                        </a:rPr>
                        <a:t>Features</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300" b="0">
                          <a:solidFill>
                            <a:srgbClr val="222222"/>
                          </a:solidFill>
                          <a:latin typeface="Calibri"/>
                          <a:ea typeface="Calibri"/>
                          <a:cs typeface="Calibri"/>
                        </a:rPr>
                        <a:t>CAMeLBERT contextual embeddings</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300" b="0">
                          <a:solidFill>
                            <a:srgbClr val="222222"/>
                          </a:solidFill>
                          <a:latin typeface="Calibri"/>
                          <a:ea typeface="Calibri"/>
                          <a:cs typeface="Calibri"/>
                        </a:rPr>
                        <a:t>TF-IDF 1-2 grams + 25 stylometric, PCA</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r>
              <a:tr h="566928">
                <a:tc>
                  <a:txBody>
                    <a:bodyPr wrap="square"/>
                    <a:lstStyle/>
                    <a:p>
                      <a:pPr algn="l"/>
                      <a:r>
                        <a:rPr sz="1300" b="1">
                          <a:solidFill>
                            <a:srgbClr val="222222"/>
                          </a:solidFill>
                          <a:latin typeface="Calibri"/>
                          <a:ea typeface="Calibri"/>
                          <a:cs typeface="Calibri"/>
                        </a:rPr>
                        <a:t>Classifier</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l"/>
                      <a:r>
                        <a:rPr sz="1300" b="0">
                          <a:solidFill>
                            <a:srgbClr val="222222"/>
                          </a:solidFill>
                          <a:latin typeface="Calibri"/>
                          <a:ea typeface="Calibri"/>
                          <a:cs typeface="Calibri"/>
                        </a:rPr>
                        <a:t>Neural network with class weights</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l"/>
                      <a:r>
                        <a:rPr sz="1300" b="0">
                          <a:solidFill>
                            <a:srgbClr val="222222"/>
                          </a:solidFill>
                          <a:latin typeface="Calibri"/>
                          <a:ea typeface="Calibri"/>
                          <a:cs typeface="Calibri"/>
                        </a:rPr>
                        <a:t>RBF multi-class SVM, balanced weights, Firefly tuned</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r>
              <a:tr h="566928">
                <a:tc>
                  <a:txBody>
                    <a:bodyPr wrap="square"/>
                    <a:lstStyle/>
                    <a:p>
                      <a:pPr algn="l"/>
                      <a:r>
                        <a:rPr sz="1300" b="1">
                          <a:solidFill>
                            <a:srgbClr val="222222"/>
                          </a:solidFill>
                          <a:latin typeface="Calibri"/>
                          <a:ea typeface="Calibri"/>
                          <a:cs typeface="Calibri"/>
                        </a:rPr>
                        <a:t>Reported</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300" b="0">
                          <a:solidFill>
                            <a:srgbClr val="222222"/>
                          </a:solidFill>
                          <a:latin typeface="Calibri"/>
                          <a:ea typeface="Calibri"/>
                          <a:cs typeface="Calibri"/>
                        </a:rPr>
                        <a:t>Accuracy 95.52 %, F1 96.19 %</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300" b="0">
                          <a:solidFill>
                            <a:srgbClr val="222222"/>
                          </a:solidFill>
                          <a:latin typeface="Calibri"/>
                          <a:ea typeface="Calibri"/>
                          <a:cs typeface="Calibri"/>
                        </a:rPr>
                        <a:t>Accuracy 49.4%, macro-F1 42.9% (3 seeds)</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r>
              <a:tr h="566928">
                <a:tc>
                  <a:txBody>
                    <a:bodyPr wrap="square"/>
                    <a:lstStyle/>
                    <a:p>
                      <a:pPr algn="l"/>
                      <a:r>
                        <a:rPr sz="1300" b="1">
                          <a:solidFill>
                            <a:srgbClr val="222222"/>
                          </a:solidFill>
                          <a:latin typeface="Calibri"/>
                          <a:ea typeface="Calibri"/>
                          <a:cs typeface="Calibri"/>
                        </a:rPr>
                        <a:t>Compute</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l"/>
                      <a:r>
                        <a:rPr sz="1300" b="0">
                          <a:solidFill>
                            <a:srgbClr val="222222"/>
                          </a:solidFill>
                          <a:latin typeface="Calibri"/>
                          <a:ea typeface="Calibri"/>
                          <a:cs typeface="Calibri"/>
                        </a:rPr>
                        <a:t>Tesla T4 GPU</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l"/>
                      <a:r>
                        <a:rPr sz="1300" b="0">
                          <a:solidFill>
                            <a:srgbClr val="222222"/>
                          </a:solidFill>
                          <a:latin typeface="Calibri"/>
                          <a:ea typeface="Calibri"/>
                          <a:cs typeface="Calibri"/>
                        </a:rPr>
                        <a:t>CPU only; training about 500 s, inference about 4 ms</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r>
            </a:tbl>
          </a:graphicData>
        </a:graphic>
      </p:graphicFrame>
      <p:sp>
        <p:nvSpPr>
          <p:cNvPr id="8" name="TextBox 7"/>
          <p:cNvSpPr txBox="1"/>
          <p:nvPr/>
        </p:nvSpPr>
        <p:spPr>
          <a:xfrm>
            <a:off x="502920" y="5760720"/>
            <a:ext cx="11155680" cy="548640"/>
          </a:xfrm>
          <a:prstGeom prst="rect">
            <a:avLst/>
          </a:prstGeom>
          <a:noFill/>
        </p:spPr>
        <p:txBody>
          <a:bodyPr wrap="square" lIns="0" rIns="0" tIns="0" bIns="0" anchor="t">
            <a:spAutoFit/>
          </a:bodyPr>
          <a:lstStyle/>
          <a:p>
            <a:pPr algn="l">
              <a:spcAft>
                <a:spcPts val="400"/>
              </a:spcAft>
            </a:pPr>
            <a:r>
              <a:rPr sz="1300" b="0" i="1">
                <a:solidFill>
                  <a:srgbClr val="1F3864"/>
                </a:solidFill>
                <a:latin typeface="Calibri"/>
                <a:ea typeface="Calibri"/>
                <a:cs typeface="Calibri"/>
              </a:rPr>
              <a:t>Different language, data, task (binary vs three classes), model family and hardware: the figures are context, not a ranking. The related binary LIAR-PLUS result in [2] (LR F1 0.56) shows how hard this kind of data is.</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Output – Detect</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C6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22</a:t>
            </a:r>
            <a:endParaRPr lang="en-US" sz="1000" dirty="0"/>
          </a:p>
        </p:txBody>
      </p:sp>
      <p:pic>
        <p:nvPicPr>
          <p:cNvPr id="7" name="Picture 6" descr="11_liar2_detect_fake.png"/>
          <p:cNvPicPr>
            <a:picLocks noChangeAspect="1"/>
          </p:cNvPicPr>
          <p:nvPr/>
        </p:nvPicPr>
        <p:blipFill>
          <a:blip r:embed="rId3"/>
          <a:stretch>
            <a:fillRect/>
          </a:stretch>
        </p:blipFill>
        <p:spPr>
          <a:xfrm>
            <a:off x="502920" y="1897380"/>
            <a:ext cx="5486400" cy="3429000"/>
          </a:xfrm>
          <a:prstGeom prst="rect">
            <a:avLst/>
          </a:prstGeom>
          <a:ln w="9525">
            <a:solidFill>
              <a:srgbClr val="D5DCE6"/>
            </a:solidFill>
          </a:ln>
        </p:spPr>
      </p:pic>
      <p:pic>
        <p:nvPicPr>
          <p:cNvPr id="8" name="Picture 7" descr="13_liar2_detect_partial.png"/>
          <p:cNvPicPr>
            <a:picLocks noChangeAspect="1"/>
          </p:cNvPicPr>
          <p:nvPr/>
        </p:nvPicPr>
        <p:blipFill>
          <a:blip r:embed="rId2"/>
          <a:stretch>
            <a:fillRect/>
          </a:stretch>
        </p:blipFill>
        <p:spPr>
          <a:xfrm>
            <a:off x="6217920" y="1897380"/>
            <a:ext cx="5486400" cy="3429000"/>
          </a:xfrm>
          <a:prstGeom prst="rect">
            <a:avLst/>
          </a:prstGeom>
          <a:ln w="9525">
            <a:solidFill>
              <a:srgbClr val="D5DCE6"/>
            </a:solidFill>
          </a:ln>
        </p:spPr>
      </p:pic>
      <p:sp>
        <p:nvSpPr>
          <p:cNvPr id="9" name="TextBox 8"/>
          <p:cNvSpPr txBox="1"/>
          <p:nvPr/>
        </p:nvSpPr>
        <p:spPr>
          <a:xfrm>
            <a:off x="502920" y="5623560"/>
            <a:ext cx="11155680" cy="731520"/>
          </a:xfrm>
          <a:prstGeom prst="rect">
            <a:avLst/>
          </a:prstGeom>
          <a:noFill/>
        </p:spPr>
        <p:txBody>
          <a:bodyPr wrap="square" lIns="0" rIns="0" tIns="0" bIns="0" anchor="t">
            <a:spAutoFit/>
          </a:bodyPr>
          <a:lstStyle/>
          <a:p>
            <a:pPr algn="l">
              <a:spcAft>
                <a:spcPts val="400"/>
              </a:spcAft>
            </a:pPr>
            <a:r>
              <a:rPr sz="1200" b="0" i="0">
                <a:solidFill>
                  <a:srgbClr val="1F3864"/>
                </a:solidFill>
                <a:latin typeface="Calibri"/>
                <a:ea typeface="Calibri"/>
                <a:cs typeface="Calibri"/>
              </a:rPr>
              <a:t>Left: a real LIAR2 test statement (Ron DeSantis shirt photo, true label FAKE) judged FAKE with 83.8 % confidence. Right: a PARTIALLY TRUE verdict shown at 47.2 % while the FAKE bar is tallest: the verdict-probability mismatch of slide 19.</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Output – Batch Check and Model Analytics</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C6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23</a:t>
            </a:r>
            <a:endParaRPr lang="en-US" sz="1000" dirty="0"/>
          </a:p>
        </p:txBody>
      </p:sp>
      <p:pic>
        <p:nvPicPr>
          <p:cNvPr id="7" name="Picture 6" descr="16_liar2_batch_results.png"/>
          <p:cNvPicPr>
            <a:picLocks noChangeAspect="1"/>
          </p:cNvPicPr>
          <p:nvPr/>
        </p:nvPicPr>
        <p:blipFill>
          <a:blip r:embed="rId3"/>
          <a:stretch>
            <a:fillRect/>
          </a:stretch>
        </p:blipFill>
        <p:spPr>
          <a:xfrm>
            <a:off x="502920" y="1897380"/>
            <a:ext cx="5486400" cy="3429000"/>
          </a:xfrm>
          <a:prstGeom prst="rect">
            <a:avLst/>
          </a:prstGeom>
          <a:ln w="9525">
            <a:solidFill>
              <a:srgbClr val="D5DCE6"/>
            </a:solidFill>
          </a:ln>
        </p:spPr>
      </p:pic>
      <p:pic>
        <p:nvPicPr>
          <p:cNvPr id="8" name="Picture 7" descr="18_liar2_analytics_charts.png"/>
          <p:cNvPicPr>
            <a:picLocks noChangeAspect="1"/>
          </p:cNvPicPr>
          <p:nvPr/>
        </p:nvPicPr>
        <p:blipFill>
          <a:blip r:embed="rId2"/>
          <a:stretch>
            <a:fillRect/>
          </a:stretch>
        </p:blipFill>
        <p:spPr>
          <a:xfrm>
            <a:off x="6217920" y="1897380"/>
            <a:ext cx="5486400" cy="3429000"/>
          </a:xfrm>
          <a:prstGeom prst="rect">
            <a:avLst/>
          </a:prstGeom>
          <a:ln w="9525">
            <a:solidFill>
              <a:srgbClr val="D5DCE6"/>
            </a:solidFill>
          </a:ln>
        </p:spPr>
      </p:pic>
      <p:sp>
        <p:nvSpPr>
          <p:cNvPr id="9" name="TextBox 8"/>
          <p:cNvSpPr txBox="1"/>
          <p:nvPr/>
        </p:nvSpPr>
        <p:spPr>
          <a:xfrm>
            <a:off x="502920" y="5623560"/>
            <a:ext cx="11155680" cy="731520"/>
          </a:xfrm>
          <a:prstGeom prst="rect">
            <a:avLst/>
          </a:prstGeom>
          <a:noFill/>
        </p:spPr>
        <p:txBody>
          <a:bodyPr wrap="square" lIns="0" rIns="0" tIns="0" bIns="0" anchor="t">
            <a:spAutoFit/>
          </a:bodyPr>
          <a:lstStyle/>
          <a:p>
            <a:pPr algn="l">
              <a:spcAft>
                <a:spcPts val="400"/>
              </a:spcAft>
            </a:pPr>
            <a:r>
              <a:rPr sz="1200" b="0" i="0">
                <a:solidFill>
                  <a:srgbClr val="1F3864"/>
                </a:solidFill>
                <a:latin typeface="Calibri"/>
                <a:ea typeface="Calibri"/>
                <a:cs typeface="Calibri"/>
              </a:rPr>
              <a:t>Left: 120 real test statements screened (44 REAL, 24 PARTIALLY TRUE, 52 FAKE); the 1.51 s shown was captured while another job was running; the idle server needed about 0.13 s per 100 rows. Right: confusion matrix, Firefly curve, class report and baseline-vs-proposed table of the loaded model.</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Output – Retrain</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C6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24</a:t>
            </a:r>
            <a:endParaRPr lang="en-US" sz="1000" dirty="0"/>
          </a:p>
        </p:txBody>
      </p:sp>
      <p:pic>
        <p:nvPicPr>
          <p:cNvPr id="7" name="Picture 6" descr="20_liar2_retrain.png"/>
          <p:cNvPicPr>
            <a:picLocks noChangeAspect="1"/>
          </p:cNvPicPr>
          <p:nvPr/>
        </p:nvPicPr>
        <p:blipFill>
          <a:blip r:embed="rId3"/>
          <a:stretch>
            <a:fillRect/>
          </a:stretch>
        </p:blipFill>
        <p:spPr>
          <a:xfrm>
            <a:off x="502920" y="1897380"/>
            <a:ext cx="5486400" cy="3429000"/>
          </a:xfrm>
          <a:prstGeom prst="rect">
            <a:avLst/>
          </a:prstGeom>
          <a:ln w="9525">
            <a:solidFill>
              <a:srgbClr val="D5DCE6"/>
            </a:solidFill>
          </a:ln>
        </p:spPr>
      </p:pic>
      <p:pic>
        <p:nvPicPr>
          <p:cNvPr id="8" name="Picture 7" descr="22_liar2_retrain_done.png"/>
          <p:cNvPicPr>
            <a:picLocks noChangeAspect="1"/>
          </p:cNvPicPr>
          <p:nvPr/>
        </p:nvPicPr>
        <p:blipFill>
          <a:blip r:embed="rId2"/>
          <a:stretch>
            <a:fillRect/>
          </a:stretch>
        </p:blipFill>
        <p:spPr>
          <a:xfrm>
            <a:off x="6217920" y="1897380"/>
            <a:ext cx="5486400" cy="3429000"/>
          </a:xfrm>
          <a:prstGeom prst="rect">
            <a:avLst/>
          </a:prstGeom>
          <a:ln w="9525">
            <a:solidFill>
              <a:srgbClr val="D5DCE6"/>
            </a:solidFill>
          </a:ln>
        </p:spPr>
      </p:pic>
      <p:sp>
        <p:nvSpPr>
          <p:cNvPr id="9" name="TextBox 8"/>
          <p:cNvSpPr txBox="1"/>
          <p:nvPr/>
        </p:nvSpPr>
        <p:spPr>
          <a:xfrm>
            <a:off x="502920" y="5623560"/>
            <a:ext cx="11155680" cy="731520"/>
          </a:xfrm>
          <a:prstGeom prst="rect">
            <a:avLst/>
          </a:prstGeom>
          <a:noFill/>
        </p:spPr>
        <p:txBody>
          <a:bodyPr wrap="square" lIns="0" rIns="0" tIns="0" bIns="0" anchor="t">
            <a:spAutoFit/>
          </a:bodyPr>
          <a:lstStyle/>
          <a:p>
            <a:pPr algn="l">
              <a:spcAft>
                <a:spcPts val="400"/>
              </a:spcAft>
            </a:pPr>
            <a:r>
              <a:rPr sz="1200" b="0" i="0">
                <a:solidFill>
                  <a:srgbClr val="1F3864"/>
                </a:solidFill>
                <a:latin typeface="Calibri"/>
                <a:ea typeface="Calibri"/>
                <a:cs typeface="Calibri"/>
              </a:rPr>
              <a:t>Left: a 600-statement LIAR2 CSV attached, 4 fireflies, 3 generations. Right: the finished job (137 s): accuracy 42.50 %, macro-F1 0.4113, 147 of 300 components kept; the new model replaced the one in memory without a restart (run on a copy of the model file).</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Conclusion</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C6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25</a:t>
            </a:r>
            <a:endParaRPr lang="en-US" sz="1000" dirty="0"/>
          </a:p>
        </p:txBody>
      </p:sp>
      <p:sp>
        <p:nvSpPr>
          <p:cNvPr id="7" name="TextBox 6"/>
          <p:cNvSpPr txBox="1"/>
          <p:nvPr/>
        </p:nvSpPr>
        <p:spPr>
          <a:xfrm>
            <a:off x="502920" y="1783080"/>
            <a:ext cx="11155680" cy="4480560"/>
          </a:xfrm>
          <a:prstGeom prst="rect">
            <a:avLst/>
          </a:prstGeom>
          <a:noFill/>
        </p:spPr>
        <p:txBody>
          <a:bodyPr wrap="square" lIns="0" rIns="0" tIns="0" bIns="0" anchor="t">
            <a:spAutoFit/>
          </a:bodyPr>
          <a:lstStyle/>
          <a:p>
            <a:pPr algn="l" marL="256032" indent="-201168">
              <a:spcAft>
                <a:spcPts val="900"/>
              </a:spcAft>
              <a:buChar char="•"/>
            </a:pPr>
            <a:r>
              <a:rPr sz="1800" b="1" i="0">
                <a:solidFill>
                  <a:srgbClr val="222222"/>
                </a:solidFill>
                <a:latin typeface="Calibri"/>
                <a:ea typeface="Calibri"/>
                <a:cs typeface="Calibri"/>
              </a:rPr>
              <a:t>Delivered:</a:t>
            </a:r>
            <a:r>
              <a:rPr sz="1800" b="0" i="0">
                <a:solidFill>
                  <a:srgbClr val="222222"/>
                </a:solidFill>
                <a:latin typeface="Calibri"/>
                <a:ea typeface="Calibri"/>
                <a:cs typeface="Calibri"/>
              </a:rPr>
              <a:t> a working fake news detector: cleaning, TF-IDF + stylometric features, PCA, Firefly search, MSVM with a PARTIALLY TRUE class, a FastAPI service and a six-screen web app with batch checking, analytics and retraining.</a:t>
            </a:r>
          </a:p>
          <a:p>
            <a:pPr algn="l" marL="256032" indent="-201168">
              <a:spcAft>
                <a:spcPts val="900"/>
              </a:spcAft>
              <a:buChar char="•"/>
            </a:pPr>
            <a:r>
              <a:rPr sz="1800" b="1" i="0">
                <a:solidFill>
                  <a:srgbClr val="222222"/>
                </a:solidFill>
                <a:latin typeface="Calibri"/>
                <a:ea typeface="Calibri"/>
                <a:cs typeface="Calibri"/>
              </a:rPr>
              <a:t>Measured:</a:t>
            </a:r>
            <a:r>
              <a:rPr sz="1800" b="0" i="0">
                <a:solidFill>
                  <a:srgbClr val="222222"/>
                </a:solidFill>
                <a:latin typeface="Calibri"/>
                <a:ea typeface="Calibri"/>
                <a:cs typeface="Calibri"/>
              </a:rPr>
              <a:t> macro-F1 0.429 ± 0.010 and accuracy 0.494 ± 0.008 on LIAR2; about 4 ms per article on the server; 83 automated checks pass.</a:t>
            </a:r>
          </a:p>
          <a:p>
            <a:pPr algn="l" marL="256032" indent="-201168">
              <a:spcAft>
                <a:spcPts val="900"/>
              </a:spcAft>
              <a:buChar char="•"/>
            </a:pPr>
            <a:r>
              <a:rPr sz="1800" b="1" i="0">
                <a:solidFill>
                  <a:srgbClr val="222222"/>
                </a:solidFill>
                <a:latin typeface="Calibri"/>
                <a:ea typeface="Calibri"/>
                <a:cs typeface="Calibri"/>
              </a:rPr>
              <a:t>Objectives:</a:t>
            </a:r>
            <a:r>
              <a:rPr sz="1800" b="0" i="0">
                <a:solidFill>
                  <a:srgbClr val="222222"/>
                </a:solidFill>
                <a:latin typeface="Calibri"/>
                <a:ea typeface="Calibri"/>
                <a:cs typeface="Calibri"/>
              </a:rPr>
              <a:t> 1 (with LIAR2; the shipped demo corpus is synthetic), 3, 5 met; 2 partly (no stemming); 4 and 6 done but the expected benefit was not shown: Firefly tuning is within noise of random search and of a default SVM, and linear TF-IDF models score higher at far lower cost.</a:t>
            </a:r>
          </a:p>
          <a:p>
            <a:pPr algn="l" marL="256032" indent="-201168">
              <a:spcAft>
                <a:spcPts val="400"/>
              </a:spcAft>
              <a:buChar char="•"/>
            </a:pPr>
            <a:r>
              <a:rPr sz="1800" b="1" i="0">
                <a:solidFill>
                  <a:srgbClr val="222222"/>
                </a:solidFill>
                <a:latin typeface="Calibri"/>
                <a:ea typeface="Calibri"/>
                <a:cs typeface="Calibri"/>
              </a:rPr>
              <a:t>Limits:</a:t>
            </a:r>
            <a:r>
              <a:rPr sz="1800" b="0" i="0">
                <a:solidFill>
                  <a:srgbClr val="222222"/>
                </a:solidFill>
                <a:latin typeface="Calibri"/>
                <a:ea typeface="Calibri"/>
                <a:cs typeface="Calibri"/>
              </a:rPr>
              <a:t> 3,000-statement training subsample, three seeds, PARTIALLY TRUE recognised poorly, verdict and probabilities disagree, no user study. Not a fact-checker.</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Future Scope</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C6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26</a:t>
            </a:r>
            <a:endParaRPr lang="en-US" sz="1000" dirty="0"/>
          </a:p>
        </p:txBody>
      </p:sp>
      <p:sp>
        <p:nvSpPr>
          <p:cNvPr id="7" name="TextBox 6"/>
          <p:cNvSpPr txBox="1"/>
          <p:nvPr/>
        </p:nvSpPr>
        <p:spPr>
          <a:xfrm>
            <a:off x="502920" y="1783080"/>
            <a:ext cx="11155680" cy="4480560"/>
          </a:xfrm>
          <a:prstGeom prst="rect">
            <a:avLst/>
          </a:prstGeom>
          <a:noFill/>
        </p:spPr>
        <p:txBody>
          <a:bodyPr wrap="square" lIns="0" rIns="0" tIns="0" bIns="0" anchor="t">
            <a:spAutoFit/>
          </a:bodyPr>
          <a:lstStyle/>
          <a:p>
            <a:pPr algn="l" marL="256032" indent="-201168">
              <a:spcAft>
                <a:spcPts val="1200"/>
              </a:spcAft>
              <a:buChar char="•"/>
            </a:pPr>
            <a:r>
              <a:rPr sz="1900" b="0" i="0">
                <a:solidFill>
                  <a:srgbClr val="222222"/>
                </a:solidFill>
                <a:latin typeface="Calibri"/>
                <a:ea typeface="Calibri"/>
                <a:cs typeface="Calibri"/>
              </a:rPr>
              <a:t>Make verdict and probability consistent: calibrate probabilities with class-prior correction, or derive the verdict from the calibrated scores.</a:t>
            </a:r>
          </a:p>
          <a:p>
            <a:pPr algn="l" marL="256032" indent="-201168">
              <a:spcAft>
                <a:spcPts val="1200"/>
              </a:spcAft>
              <a:buChar char="•"/>
            </a:pPr>
            <a:r>
              <a:rPr sz="1900" b="0" i="0">
                <a:solidFill>
                  <a:srgbClr val="222222"/>
                </a:solidFill>
                <a:latin typeface="Calibri"/>
                <a:ea typeface="Calibri"/>
                <a:cs typeface="Calibri"/>
              </a:rPr>
              <a:t>Test PCA without the 300 cap, or sparse linear / Complement NB models with the Firefly feature search, against the same baselines.</a:t>
            </a:r>
          </a:p>
          <a:p>
            <a:pPr algn="l" marL="256032" indent="-201168">
              <a:spcAft>
                <a:spcPts val="1200"/>
              </a:spcAft>
              <a:buChar char="•"/>
            </a:pPr>
            <a:r>
              <a:rPr sz="1900" b="0" i="0">
                <a:solidFill>
                  <a:srgbClr val="222222"/>
                </a:solidFill>
                <a:latin typeface="Calibri"/>
                <a:ea typeface="Calibri"/>
                <a:cs typeface="Calibri"/>
              </a:rPr>
              <a:t>Train on all 18,369 statements with a cheaper fitness; tune the Firefly parameters; add ISOT and cross-dataset tests and a significance test.</a:t>
            </a:r>
          </a:p>
          <a:p>
            <a:pPr algn="l" marL="256032" indent="-201168">
              <a:spcAft>
                <a:spcPts val="1200"/>
              </a:spcAft>
              <a:buChar char="•"/>
            </a:pPr>
            <a:r>
              <a:rPr sz="1900" b="0" i="0">
                <a:solidFill>
                  <a:srgbClr val="222222"/>
                </a:solidFill>
                <a:latin typeface="Calibri"/>
                <a:ea typeface="Calibri"/>
                <a:cs typeface="Calibri"/>
              </a:rPr>
              <a:t>Add stemming (objective 2) and richer, fact-checking-aware features such as source and evidence cues.</a:t>
            </a:r>
          </a:p>
          <a:p>
            <a:pPr algn="l" marL="256032" indent="-201168">
              <a:spcAft>
                <a:spcPts val="400"/>
              </a:spcAft>
              <a:buChar char="•"/>
            </a:pPr>
            <a:r>
              <a:rPr sz="1900" b="0" i="0">
                <a:solidFill>
                  <a:srgbClr val="222222"/>
                </a:solidFill>
                <a:latin typeface="Calibri"/>
                <a:ea typeface="Calibri"/>
                <a:cs typeface="Calibri"/>
              </a:rPr>
              <a:t>User study with fact-checkers; update the fixed UI wording for non-demo models.</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References</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C6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27</a:t>
            </a:r>
            <a:endParaRPr lang="en-US" sz="1000" dirty="0"/>
          </a:p>
        </p:txBody>
      </p:sp>
      <p:sp>
        <p:nvSpPr>
          <p:cNvPr id="7" name="TextBox 6"/>
          <p:cNvSpPr txBox="1"/>
          <p:nvPr/>
        </p:nvSpPr>
        <p:spPr>
          <a:xfrm>
            <a:off x="502920" y="1691640"/>
            <a:ext cx="5486400" cy="4572000"/>
          </a:xfrm>
          <a:prstGeom prst="rect">
            <a:avLst/>
          </a:prstGeom>
          <a:noFill/>
        </p:spPr>
        <p:txBody>
          <a:bodyPr wrap="square" lIns="0" rIns="0" tIns="0" bIns="0" anchor="t">
            <a:spAutoFit/>
          </a:bodyPr>
          <a:lstStyle/>
          <a:p>
            <a:pPr algn="l">
              <a:spcAft>
                <a:spcPts val="300"/>
              </a:spcAft>
            </a:pPr>
            <a:r>
              <a:rPr sz="1100" b="0" i="0">
                <a:solidFill>
                  <a:srgbClr val="222222"/>
                </a:solidFill>
                <a:latin typeface="Calibri"/>
                <a:ea typeface="Calibri"/>
                <a:cs typeface="Calibri"/>
              </a:rPr>
              <a:t>[1] M. Saad, S. Abdelrazek and I. R. Abdelmaksoud, "An algorithmic system for Arabic fake news detection using neural networks and transformer embeddings with class weighting," Scientific Reports, vol. 16, Art. no. 12226, 2026, doi: 10.1038/s41598-026-45653-4.</a:t>
            </a:r>
          </a:p>
          <a:p>
            <a:pPr algn="l">
              <a:spcAft>
                <a:spcPts val="300"/>
              </a:spcAft>
            </a:pPr>
            <a:r>
              <a:rPr sz="1100" b="0" i="0">
                <a:solidFill>
                  <a:srgbClr val="222222"/>
                </a:solidFill>
                <a:latin typeface="Calibri"/>
                <a:ea typeface="Calibri"/>
                <a:cs typeface="Calibri"/>
              </a:rPr>
              <a:t>[2] P. Dell'Oglio, A. Bondielli, F. Marcelloni and L. C. Passaro, "An experimental comparison of the most popular approaches to fake news detection," Information Sciences, 2026, doi: 10.1016/j.ins.2026.123407; arXiv:2603.25501.</a:t>
            </a:r>
          </a:p>
          <a:p>
            <a:pPr algn="l">
              <a:spcAft>
                <a:spcPts val="300"/>
              </a:spcAft>
            </a:pPr>
            <a:r>
              <a:rPr sz="1100" b="0" i="0">
                <a:solidFill>
                  <a:srgbClr val="222222"/>
                </a:solidFill>
                <a:latin typeface="Calibri"/>
                <a:ea typeface="Calibri"/>
                <a:cs typeface="Calibri"/>
              </a:rPr>
              <a:t>[3] T. Huang, Z. Xu, P. Yu, J. Yi and X. Xu, "A hybrid transformer model for fake news detection: Leveraging Bayesian optimization and bidirectional recurrent unit," 2025, arXiv:2502.09097.</a:t>
            </a:r>
          </a:p>
          <a:p>
            <a:pPr algn="l">
              <a:spcAft>
                <a:spcPts val="300"/>
              </a:spcAft>
            </a:pPr>
            <a:r>
              <a:rPr sz="1100" b="0" i="0">
                <a:solidFill>
                  <a:srgbClr val="222222"/>
                </a:solidFill>
                <a:latin typeface="Calibri"/>
                <a:ea typeface="Calibri"/>
                <a:cs typeface="Calibri"/>
              </a:rPr>
              <a:t>[4] C. Xu and M.-T. Kechadi, "An enhanced fake news detection system with fuzzy deep learning," IEEE Access, vol. 12, pp. 88006-88021, 2024, doi: 10.1109/ACCESS.2024.3418340.</a:t>
            </a:r>
          </a:p>
          <a:p>
            <a:pPr algn="l">
              <a:spcAft>
                <a:spcPts val="300"/>
              </a:spcAft>
            </a:pPr>
            <a:r>
              <a:rPr sz="1100" b="0" i="0">
                <a:solidFill>
                  <a:srgbClr val="222222"/>
                </a:solidFill>
                <a:latin typeface="Calibri"/>
                <a:ea typeface="Calibri"/>
                <a:cs typeface="Calibri"/>
              </a:rPr>
              <a:t>[5] W. Y. Wang, "'Liar, liar pants on fire': A new benchmark dataset for fake news detection," in Proc. 55th Annu. Meeting Assoc. Comput. Linguistics (ACL), Vol. 2: Short Papers, Vancouver, Canada, 2017, pp. 422-426, doi: 10.18653/v1/P17-2067.</a:t>
            </a:r>
          </a:p>
          <a:p>
            <a:pPr algn="l">
              <a:spcAft>
                <a:spcPts val="300"/>
              </a:spcAft>
            </a:pPr>
            <a:r>
              <a:rPr sz="1100" b="0" i="0">
                <a:solidFill>
                  <a:srgbClr val="222222"/>
                </a:solidFill>
                <a:latin typeface="Calibri"/>
                <a:ea typeface="Calibri"/>
                <a:cs typeface="Calibri"/>
              </a:rPr>
              <a:t>[6] X.-S. Yang, "Firefly algorithms for multimodal optimization," in Stochastic Algorithms: Foundations and Applications (SAGA 2009), Lecture Notes in Computer Science, vol. 5792. Berlin, Germany: Springer, 2009, pp. 169-178.</a:t>
            </a:r>
          </a:p>
          <a:p>
            <a:pPr algn="l">
              <a:spcAft>
                <a:spcPts val="300"/>
              </a:spcAft>
            </a:pPr>
            <a:r>
              <a:rPr sz="1100" b="0" i="0">
                <a:solidFill>
                  <a:srgbClr val="222222"/>
                </a:solidFill>
                <a:latin typeface="Calibri"/>
                <a:ea typeface="Calibri"/>
                <a:cs typeface="Calibri"/>
              </a:rPr>
              <a:t>[8] C. Cortes and V. Vapnik, "Support-vector networks," Machine Learning, vol. 20, no. 3, pp. 273-297, Sep. 1995.</a:t>
            </a:r>
          </a:p>
        </p:txBody>
      </p:sp>
      <p:sp>
        <p:nvSpPr>
          <p:cNvPr id="8" name="TextBox 7"/>
          <p:cNvSpPr txBox="1"/>
          <p:nvPr/>
        </p:nvSpPr>
        <p:spPr>
          <a:xfrm>
            <a:off x="6217920" y="1691640"/>
            <a:ext cx="5486400" cy="4572000"/>
          </a:xfrm>
          <a:prstGeom prst="rect">
            <a:avLst/>
          </a:prstGeom>
          <a:noFill/>
        </p:spPr>
        <p:txBody>
          <a:bodyPr wrap="square" lIns="0" rIns="0" tIns="0" bIns="0" anchor="t">
            <a:spAutoFit/>
          </a:bodyPr>
          <a:lstStyle/>
          <a:p>
            <a:pPr algn="l">
              <a:spcAft>
                <a:spcPts val="300"/>
              </a:spcAft>
            </a:pPr>
            <a:r>
              <a:rPr sz="1100" b="0" i="0">
                <a:solidFill>
                  <a:srgbClr val="222222"/>
                </a:solidFill>
                <a:latin typeface="Calibri"/>
                <a:ea typeface="Calibri"/>
                <a:cs typeface="Calibri"/>
              </a:rPr>
              <a:t>[10] I. T. Jolliffe and J. Cadima, "Principal component analysis: a review and recent developments," Phil. Trans. R. Soc. A, vol. 374, no. 2065, Art. no. 20150202, 2016.</a:t>
            </a:r>
          </a:p>
          <a:p>
            <a:pPr algn="l">
              <a:spcAft>
                <a:spcPts val="300"/>
              </a:spcAft>
            </a:pPr>
            <a:r>
              <a:rPr sz="1100" b="0" i="0">
                <a:solidFill>
                  <a:srgbClr val="222222"/>
                </a:solidFill>
                <a:latin typeface="Calibri"/>
                <a:ea typeface="Calibri"/>
                <a:cs typeface="Calibri"/>
              </a:rPr>
              <a:t>[12] J. C. Platt, "Probabilistic outputs for support vector machines and comparisons to regularized likelihood methods," in Advances in Large Margin Classifiers. Cambridge, MA, USA: MIT Press, 1999, pp. 61-74.</a:t>
            </a:r>
          </a:p>
          <a:p>
            <a:pPr algn="l">
              <a:spcAft>
                <a:spcPts val="300"/>
              </a:spcAft>
            </a:pPr>
            <a:r>
              <a:rPr sz="1100" b="0" i="0">
                <a:solidFill>
                  <a:srgbClr val="222222"/>
                </a:solidFill>
                <a:latin typeface="Calibri"/>
                <a:ea typeface="Calibri"/>
                <a:cs typeface="Calibri"/>
              </a:rPr>
              <a:t>[13] G. Salton and C. Buckley, "Term-weighting approaches in automatic text retrieval," Information Processing &amp; Management, vol. 24, no. 5, pp. 513-523, 1988.</a:t>
            </a:r>
          </a:p>
          <a:p>
            <a:pPr algn="l">
              <a:spcAft>
                <a:spcPts val="300"/>
              </a:spcAft>
            </a:pPr>
            <a:r>
              <a:rPr sz="1100" b="0" i="0">
                <a:solidFill>
                  <a:srgbClr val="222222"/>
                </a:solidFill>
                <a:latin typeface="Calibri"/>
                <a:ea typeface="Calibri"/>
                <a:cs typeface="Calibri"/>
              </a:rPr>
              <a:t>[14] F. Pedregosa et al., "Scikit-learn: Machine learning in Python," J. Mach. Learn. Res., vol. 12, pp. 2825-2830, 2011.</a:t>
            </a:r>
          </a:p>
          <a:p>
            <a:pPr algn="l">
              <a:spcAft>
                <a:spcPts val="300"/>
              </a:spcAft>
            </a:pPr>
            <a:r>
              <a:rPr sz="1100" b="0" i="0">
                <a:solidFill>
                  <a:srgbClr val="222222"/>
                </a:solidFill>
                <a:latin typeface="Calibri"/>
                <a:ea typeface="Calibri"/>
                <a:cs typeface="Calibri"/>
              </a:rPr>
              <a:t>[15] H. He and E. A. Garcia, "Learning from imbalanced data," IEEE Trans. Knowl. Data Eng., vol. 21, no. 9, pp. 1263-1284, Sep. 2009.</a:t>
            </a:r>
          </a:p>
          <a:p>
            <a:pPr algn="l">
              <a:spcAft>
                <a:spcPts val="300"/>
              </a:spcAft>
            </a:pPr>
            <a:r>
              <a:rPr sz="1100" b="0" i="0">
                <a:solidFill>
                  <a:srgbClr val="222222"/>
                </a:solidFill>
                <a:latin typeface="Calibri"/>
                <a:ea typeface="Calibri"/>
                <a:cs typeface="Calibri"/>
              </a:rPr>
              <a:t>[16] K. Shu, A. Sliva, S. Wang, J. Tang and H. Liu, "Fake news detection on social media: A data mining perspective," ACM SIGKDD Explorations Newsletter, vol. 19, no. 1, pp. 22-36, 2017.</a:t>
            </a:r>
          </a:p>
          <a:p>
            <a:pPr algn="l">
              <a:spcAft>
                <a:spcPts val="300"/>
              </a:spcAft>
            </a:pPr>
            <a:r>
              <a:rPr sz="1100" b="0" i="0">
                <a:solidFill>
                  <a:srgbClr val="222222"/>
                </a:solidFill>
                <a:latin typeface="Calibri"/>
                <a:ea typeface="Calibri"/>
                <a:cs typeface="Calibri"/>
              </a:rPr>
              <a:t>[19] H. Ahmed, I. Traore and S. Saad, "Detection of online fake news using N-gram analysis and machine learning techniques," in Intelligent, Secure, and Dependable Systems in Distributed and Cloud Environments (ISDDC 2017), Lecture Notes in Computer Science, vol. 10618. Cham, Switzerland: Springer, 2017, pp. 127-138.</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457200" y="2743200"/>
            <a:ext cx="11247120" cy="914400"/>
          </a:xfrm>
          <a:prstGeom prst="rect">
            <a:avLst/>
          </a:prstGeom>
          <a:noFill/>
          <a:ln/>
        </p:spPr>
        <p:txBody>
          <a:bodyPr wrap="square" rtlCol="0" anchor="ctr"/>
          <a:lstStyle/>
          <a:p>
            <a:pPr algn="ctr" indent="0" marL="0">
              <a:buNone/>
            </a:pPr>
            <a:r>
              <a:rPr lang="en-US" sz="4800" b="1" dirty="0">
                <a:solidFill>
                  <a:srgbClr val="1F3864"/>
                </a:solidFill>
                <a:latin typeface="Calibri" pitchFamily="34" charset="0"/>
                <a:ea typeface="Calibri" pitchFamily="34" charset="-122"/>
                <a:cs typeface="Calibri" pitchFamily="34" charset="-120"/>
              </a:rPr>
              <a:t>THANK YOU</a:t>
            </a:r>
            <a:endParaRPr lang="en-US" sz="4800" dirty="0"/>
          </a:p>
        </p:txBody>
      </p:sp>
      <p:sp>
        <p:nvSpPr>
          <p:cNvPr id="5" name="Text 2"/>
          <p:cNvSpPr/>
          <p:nvPr/>
        </p:nvSpPr>
        <p:spPr>
          <a:xfrm>
            <a:off x="457200" y="3657600"/>
            <a:ext cx="11247120" cy="548640"/>
          </a:xfrm>
          <a:prstGeom prst="rect">
            <a:avLst/>
          </a:prstGeom>
          <a:noFill/>
          <a:ln/>
        </p:spPr>
        <p:txBody>
          <a:bodyPr wrap="square" rtlCol="0" anchor="ctr"/>
          <a:lstStyle/>
          <a:p>
            <a:pPr algn="ctr" indent="0" marL="0">
              <a:buNone/>
            </a:pPr>
            <a:r>
              <a:rPr lang="en-US" sz="2200" dirty="0">
                <a:solidFill>
                  <a:srgbClr val="2E75B6"/>
                </a:solidFill>
                <a:latin typeface="Calibri" pitchFamily="34" charset="0"/>
                <a:ea typeface="Calibri" pitchFamily="34" charset="-122"/>
                <a:cs typeface="Calibri" pitchFamily="34" charset="-120"/>
              </a:rPr>
              <a:t>Questions &amp; Suggestions</a:t>
            </a:r>
            <a:endParaRPr lang="en-US" sz="2200" dirty="0"/>
          </a:p>
        </p:txBody>
      </p:sp>
      <p:sp>
        <p:nvSpPr>
          <p:cNvPr id="6" name="Text 3"/>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C6  |  Final Review</a:t>
            </a:r>
            <a:endParaRPr lang="en-US" sz="1000" dirty="0"/>
          </a:p>
        </p:txBody>
      </p:sp>
      <p:sp>
        <p:nvSpPr>
          <p:cNvPr id="7" name="Text 4"/>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28</a:t>
            </a:r>
            <a:endParaRPr lang="en-US" sz="1000" dirty="0"/>
          </a:p>
        </p:txBody>
      </p:sp>
    </p:spTree>
  </p:cSld>
  <p:clrMapOvr>
    <a:masterClrMapping/>
  </p:clrMapOvr>
</p:sld>
</file>

<file path=ppt/theme/theme1.xml><?xml version="1.0" encoding="utf-8"?>
<a:theme xmlns:a="http://schemas.openxmlformats.org/drawingml/2006/main" name="TruthGlow">
  <a:themeElements>
    <a:clrScheme name="TruthGlow">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TruthGlow">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TruthGlow">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28</Slides>
  <Notes>28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28</vt:i4>
      </vt:variant>
    </vt:vector>
  </HeadingPairs>
  <TitlesOfParts>
    <vt:vector size="3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Fake News Detection System Using Feature Based Optimised MSVM Classification - Final Review</dc:title>
  <dc:subject>TruthGlow</dc:subject>
  <dc:creator>Batch C6, Dept. of CSE</dc:creator>
  <cp:lastModifiedBy/>
  <cp:revision>1</cp:revision>
  <dcterms:created xsi:type="dcterms:W3CDTF">2026-10-07T05:03:03Z</dcterms:created>
  <dcterms:modified xsi:type="dcterms:W3CDTF">2026-10-07T05:03:03Z</dcterms:modified>
  <dc:description/>
  <cp:keywords>fake news detection, MSVM, PCA, Firefly algorithm</cp:keywords>
</cp:coreProperties>
</file>